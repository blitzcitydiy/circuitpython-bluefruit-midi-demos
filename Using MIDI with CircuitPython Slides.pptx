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8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80" r:id="rId21"/>
    <p:sldId id="279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example of the computer does exactly what you tell it to do. If a </a:t>
            </a:r>
            <a:r>
              <a:rPr lang="en-US" dirty="0" err="1"/>
              <a:t>noteoff</a:t>
            </a:r>
            <a:r>
              <a:rPr lang="en-US" dirty="0"/>
              <a:t> message is never sent that matches the note number, then the </a:t>
            </a:r>
            <a:r>
              <a:rPr lang="en-US" dirty="0" err="1"/>
              <a:t>noteon</a:t>
            </a:r>
            <a:r>
              <a:rPr lang="en-US" dirty="0"/>
              <a:t> keeps playing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193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nspiredacoustics.com/en/MIDI_note_numbers_and_center_frequenci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idi.org/midi-1-0-control-change-messages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blitzcitydiy.github.io/CircuitPython-Bluefruit-MIDI-Demos/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Rockwell" panose="02060603020205020403" pitchFamily="18" charset="0"/>
              </a:rPr>
              <a:t>Using MIDI with </a:t>
            </a:r>
            <a:r>
              <a:rPr lang="en-US" sz="5400" dirty="0" err="1">
                <a:latin typeface="Rockwell" panose="02060603020205020403" pitchFamily="18" charset="0"/>
              </a:rPr>
              <a:t>CircuitPython</a:t>
            </a:r>
            <a:endParaRPr lang="en-US" sz="54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Liz Clark</a:t>
            </a:r>
          </a:p>
          <a:p>
            <a:pPr algn="ctr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Creative Engineer, Adafruit Industries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What is MIDI?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Acronym: Music Instrument Digital Interface</a:t>
            </a:r>
          </a:p>
          <a:p>
            <a:r>
              <a:rPr lang="en-US" dirty="0"/>
              <a:t>7-bit communication protocol</a:t>
            </a:r>
          </a:p>
          <a:p>
            <a:pPr lv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Dates back to the 1980’s</a:t>
            </a:r>
          </a:p>
          <a:p>
            <a:r>
              <a:rPr lang="en-US" dirty="0"/>
              <a:t>Dependable, predictable, reliable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4DC01-B6AB-DEA4-3AEB-71A2335B99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90EF-ED08-360A-0B40-0F9596C7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How MIDI is Transmitted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DD591-FBD0-FCB0-6A75-BDA84AB86E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7197C-E30F-8C7C-5E64-AC651C1AA9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Bidirectional</a:t>
            </a:r>
          </a:p>
          <a:p>
            <a:pPr lvl="1"/>
            <a:r>
              <a:rPr lang="en-US" dirty="0"/>
              <a:t>MIDI in: </a:t>
            </a:r>
            <a:r>
              <a:rPr lang="en-US" b="1" dirty="0"/>
              <a:t>receiving</a:t>
            </a:r>
            <a:r>
              <a:rPr lang="en-US" dirty="0"/>
              <a:t> MIDI messages as an </a:t>
            </a:r>
            <a:r>
              <a:rPr lang="en-US" b="1" dirty="0"/>
              <a:t>input</a:t>
            </a:r>
          </a:p>
          <a:p>
            <a:pPr lvl="1"/>
            <a:r>
              <a:rPr lang="en-US" dirty="0"/>
              <a:t>MIDI out: </a:t>
            </a:r>
            <a:r>
              <a:rPr lang="en-US" b="1" dirty="0"/>
              <a:t>sending</a:t>
            </a:r>
            <a:r>
              <a:rPr lang="en-US" dirty="0"/>
              <a:t> MIDI messages as an </a:t>
            </a:r>
            <a:r>
              <a:rPr lang="en-US" b="1" dirty="0"/>
              <a:t>output</a:t>
            </a:r>
          </a:p>
          <a:p>
            <a:r>
              <a:rPr lang="en-US" b="1" dirty="0"/>
              <a:t>MIDI Channels</a:t>
            </a:r>
          </a:p>
          <a:p>
            <a:pPr lvl="1"/>
            <a:r>
              <a:rPr lang="en-US" dirty="0"/>
              <a:t>Messages are sent via channels, 1-16</a:t>
            </a:r>
          </a:p>
          <a:p>
            <a:pPr lvl="1"/>
            <a:r>
              <a:rPr lang="en-US" dirty="0"/>
              <a:t>Allow devices to know what and who to listen to</a:t>
            </a:r>
          </a:p>
        </p:txBody>
      </p:sp>
    </p:spTree>
    <p:extLst>
      <p:ext uri="{BB962C8B-B14F-4D97-AF65-F5344CB8AC3E}">
        <p14:creationId xmlns:p14="http://schemas.microsoft.com/office/powerpoint/2010/main" val="307385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98F0B-43FA-8D01-4777-BC036FBD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Types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91EA12-91E6-6CC7-3090-225ADFC64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DIN-5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26A990B-3D8A-8F0C-B173-A81A5337D370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8F26938-7203-0503-8379-AF3E118B375D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original MIDI connector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87009B-E077-5DF2-54B6-C13B2B42F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TRS-A/TRS-B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243638-66AD-974A-6A2F-E45F4F5CB698}"/>
              </a:ext>
            </a:extLst>
          </p:cNvPr>
          <p:cNvSpPr>
            <a:spLocks noGrp="1"/>
          </p:cNvSpPr>
          <p:nvPr>
            <p:ph type="pic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A8311F-775C-63A1-B37C-6935F8EF7AE6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487593" y="4980856"/>
            <a:ext cx="3200400" cy="152399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MIDI via an 1/8” audio jack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form factor, but not always standardized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8714F1-3E10-C4D5-7661-A075BFD15F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USB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27BA40F-438D-F514-67B2-FAF6F2F82F37}"/>
              </a:ext>
            </a:extLst>
          </p:cNvPr>
          <p:cNvSpPr>
            <a:spLocks noGrp="1"/>
          </p:cNvSpPr>
          <p:nvPr>
            <p:ph type="pic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1E6095-EED4-EF2B-1517-826ED889D640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1524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Plug and 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Bidirectional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You’ll be using this today</a:t>
            </a:r>
          </a:p>
        </p:txBody>
      </p:sp>
    </p:spTree>
    <p:extLst>
      <p:ext uri="{BB962C8B-B14F-4D97-AF65-F5344CB8AC3E}">
        <p14:creationId xmlns:p14="http://schemas.microsoft.com/office/powerpoint/2010/main" val="321338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76C4-5A1E-3FB7-CA24-1A2A44889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 MIDI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E1A0D-86AE-A8D4-3D3C-C98261FF92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Wireless MIDI transmission</a:t>
            </a:r>
          </a:p>
          <a:p>
            <a:r>
              <a:rPr lang="en-US" dirty="0"/>
              <a:t>Support is available in </a:t>
            </a:r>
            <a:r>
              <a:rPr lang="en-US" dirty="0" err="1"/>
              <a:t>CircuitPython</a:t>
            </a:r>
            <a:endParaRPr lang="en-US" dirty="0"/>
          </a:p>
          <a:p>
            <a:pPr lvl="1"/>
            <a:r>
              <a:rPr lang="en-US" dirty="0"/>
              <a:t>Can be used on the Circuit Playground </a:t>
            </a:r>
            <a:r>
              <a:rPr lang="en-US" dirty="0" err="1"/>
              <a:t>Bluefruit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F9DE2-FB75-01B1-5957-FAD08A7632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40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4AF62-E871-A22E-88C5-C4082203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MIDI Messages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33875-5AD1-1760-3AB3-15FD41CB3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71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AAFE-AE59-B387-8747-05B8F467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Noteon</a:t>
            </a:r>
            <a:r>
              <a:rPr lang="en-US" dirty="0"/>
              <a:t> and </a:t>
            </a:r>
            <a:r>
              <a:rPr lang="en-US" dirty="0" err="1"/>
              <a:t>noteoff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43A96-D479-A70A-F8A9-AD8E35AFE9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notes are played</a:t>
            </a:r>
          </a:p>
          <a:p>
            <a:pPr lvl="1"/>
            <a:r>
              <a:rPr lang="en-US" dirty="0"/>
              <a:t>i.e. when you play a piano keyboard</a:t>
            </a:r>
          </a:p>
          <a:p>
            <a:r>
              <a:rPr lang="en-US" dirty="0"/>
              <a:t>Notes in MIDI are numbered 1-127</a:t>
            </a:r>
          </a:p>
          <a:p>
            <a:pPr lvl="1"/>
            <a:r>
              <a:rPr lang="en-US" dirty="0"/>
              <a:t>Ex: C4/Middle C is 60</a:t>
            </a:r>
          </a:p>
          <a:p>
            <a:pPr lvl="1"/>
            <a:r>
              <a:rPr lang="en-US" cap="all" dirty="0">
                <a:hlinkClick r:id="rId3"/>
              </a:rPr>
              <a:t>MIDI note numbers and center frequencies</a:t>
            </a:r>
            <a:endParaRPr lang="en-US" dirty="0"/>
          </a:p>
          <a:p>
            <a:r>
              <a:rPr lang="en-US" dirty="0"/>
              <a:t>Velocity: strength, force, loudness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49F37-6223-C243-E6E6-09ABDA8371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4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4220-2EBB-11A1-C039-DF2F1A51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ControlChange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832C3-B558-7CEC-4CCB-94297B5906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DD54C-549C-64E7-2F0C-56064D0444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Utility messages, functionality varies</a:t>
            </a:r>
          </a:p>
          <a:p>
            <a:pPr lvl="1"/>
            <a:r>
              <a:rPr lang="en-US" dirty="0"/>
              <a:t>Usually sent by a knob or a slider</a:t>
            </a:r>
          </a:p>
          <a:p>
            <a:r>
              <a:rPr lang="en-US" dirty="0"/>
              <a:t>Common examples: sustain, modulation, breath control</a:t>
            </a:r>
          </a:p>
          <a:p>
            <a:pPr lvl="1"/>
            <a:r>
              <a:rPr lang="en-US" dirty="0">
                <a:hlinkClick r:id="rId2"/>
              </a:rPr>
              <a:t>CC Message table</a:t>
            </a:r>
            <a:endParaRPr lang="en-US" dirty="0"/>
          </a:p>
          <a:p>
            <a:r>
              <a:rPr lang="en-US" dirty="0"/>
              <a:t>CC message contains the message number and the value (0-127)</a:t>
            </a:r>
          </a:p>
        </p:txBody>
      </p:sp>
    </p:spTree>
    <p:extLst>
      <p:ext uri="{BB962C8B-B14F-4D97-AF65-F5344CB8AC3E}">
        <p14:creationId xmlns:p14="http://schemas.microsoft.com/office/powerpoint/2010/main" val="2082901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F16B5-F5E2-47C9-570E-645282E0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PitchBend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DE21E-0439-C596-C9B0-617667BBB4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Special MIDI message, but very common</a:t>
            </a:r>
          </a:p>
          <a:p>
            <a:r>
              <a:rPr lang="en-US" dirty="0"/>
              <a:t>Unique range 0-16383, with 8192 as the midrange/no bend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7FC26-DFE6-FA59-4030-754EE42D7D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1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5377-2D9D-BDF9-DEF1-DC8C8FE4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50C2B-3F61-C489-8A9C-C5AF6F099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35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2EAE-A0F5-765E-2EB5-1A5CE549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MIDI with </a:t>
            </a:r>
            <a:r>
              <a:rPr lang="en-US" dirty="0" err="1"/>
              <a:t>CircuitPython</a:t>
            </a:r>
            <a:r>
              <a:rPr lang="en-US" dirty="0"/>
              <a:t>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D15D6-B84B-EB26-6BF1-3534A91EC5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Using the Circuit Playground </a:t>
            </a:r>
            <a:r>
              <a:rPr lang="en-US" dirty="0" err="1"/>
              <a:t>Bluefruit</a:t>
            </a:r>
            <a:endParaRPr lang="en-US" dirty="0"/>
          </a:p>
          <a:p>
            <a:r>
              <a:rPr lang="en-US" dirty="0"/>
              <a:t>Interface with the </a:t>
            </a:r>
            <a:r>
              <a:rPr lang="en-US" dirty="0">
                <a:hlinkClick r:id="rId2"/>
              </a:rPr>
              <a:t>MIDI Monitor</a:t>
            </a:r>
            <a:r>
              <a:rPr lang="en-US" dirty="0"/>
              <a:t> for debugging and testing</a:t>
            </a:r>
          </a:p>
          <a:p>
            <a:pPr lvl="1"/>
            <a:r>
              <a:rPr lang="en-US" dirty="0"/>
              <a:t>Runs in your browser (Chrome, Firefox, Edge) and OS agnostic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29AFE3-7B68-270B-3684-C2E8EC3916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69470" y="2249488"/>
            <a:ext cx="3880673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46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067E-C3BE-07D0-0611-DCD4A7485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Connect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9E83E-DF0C-1798-C03D-52F2486A9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Connect a MIDI device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446F4CC-3AB8-0463-82EC-D921732FE865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12618" b="12618"/>
          <a:stretch>
            <a:fillRect/>
          </a:stretch>
        </p:blipFill>
        <p:spPr>
          <a:prstGeom prst="round2DiagRect">
            <a:avLst/>
          </a:prstGeom>
          <a:ln w="19050" cap="sq">
            <a:solidFill>
              <a:srgbClr val="DFE3E5">
                <a:lumMod val="60000"/>
                <a:lumOff val="40000"/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08DEDD-48C3-8EB6-A624-73345E5FAE32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689FCD-E60D-2DFA-0417-FED874580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Select input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6F5E235-9CC3-E00C-9146-2A5FDECA39F0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l="519" r="519"/>
          <a:stretch>
            <a:fillRect/>
          </a:stretch>
        </p:blipFill>
        <p:spPr>
          <a:prstGeom prst="round2DiagRect">
            <a:avLst/>
          </a:prstGeom>
          <a:ln w="19050" cap="sq">
            <a:solidFill>
              <a:srgbClr val="DFE3E5">
                <a:lumMod val="60000"/>
                <a:lumOff val="40000"/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7DF844-E6C6-6FD9-AF2D-CBC70BD58B39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B84237-488F-42F6-75A7-1BC90D35FF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Select output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EE9BC353-BBEF-A94F-25CD-65632CE37A17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/>
          <a:srcRect l="1235" r="1235"/>
          <a:stretch>
            <a:fillRect/>
          </a:stretch>
        </p:blipFill>
        <p:spPr>
          <a:prstGeom prst="round2DiagRect">
            <a:avLst/>
          </a:prstGeom>
          <a:ln w="19050" cap="sq">
            <a:solidFill>
              <a:srgbClr val="DFE3E5">
                <a:lumMod val="60000"/>
                <a:lumOff val="40000"/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4F9483-1D91-4DCA-CCDF-3982625D4F60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63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3A06-560C-BE34-7CD2-2CFF20E3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NeoPixel</a:t>
            </a:r>
            <a:r>
              <a:rPr lang="en-US" dirty="0"/>
              <a:t> MIDI Listener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2A71-A897-482D-E5A0-36F5CA66A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 a MIDI input device</a:t>
            </a:r>
          </a:p>
          <a:p>
            <a:r>
              <a:rPr lang="en-US" dirty="0"/>
              <a:t>The code should listen for </a:t>
            </a:r>
            <a:r>
              <a:rPr lang="en-US" dirty="0" err="1"/>
              <a:t>NoteOn</a:t>
            </a:r>
            <a:r>
              <a:rPr lang="en-US" dirty="0"/>
              <a:t> and </a:t>
            </a:r>
            <a:r>
              <a:rPr lang="en-US" dirty="0" err="1"/>
              <a:t>NoteOff</a:t>
            </a:r>
            <a:r>
              <a:rPr lang="en-US" dirty="0"/>
              <a:t> messages</a:t>
            </a:r>
          </a:p>
          <a:p>
            <a:r>
              <a:rPr lang="en-US" dirty="0"/>
              <a:t>The message type and value should print to the Serial Console</a:t>
            </a:r>
          </a:p>
          <a:p>
            <a:r>
              <a:rPr lang="en-US" dirty="0"/>
              <a:t>When a message is received, the </a:t>
            </a:r>
            <a:r>
              <a:rPr lang="en-US" dirty="0" err="1"/>
              <a:t>NeoPixels</a:t>
            </a:r>
            <a:r>
              <a:rPr lang="en-US" dirty="0"/>
              <a:t> should light up</a:t>
            </a:r>
          </a:p>
          <a:p>
            <a:pPr lvl="1"/>
            <a:r>
              <a:rPr lang="en-US" dirty="0"/>
              <a:t>Each message should have a color associated with it</a:t>
            </a:r>
          </a:p>
          <a:p>
            <a:r>
              <a:rPr lang="en-US" dirty="0"/>
              <a:t>For testing, connect to the MIDI Monitor as an output and click on the keyboard notes</a:t>
            </a:r>
          </a:p>
        </p:txBody>
      </p:sp>
    </p:spTree>
    <p:extLst>
      <p:ext uri="{BB962C8B-B14F-4D97-AF65-F5344CB8AC3E}">
        <p14:creationId xmlns:p14="http://schemas.microsoft.com/office/powerpoint/2010/main" val="3028164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342A2-E811-8CDF-58EB-0AC56F93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Capacitive touch MIDI Keyboard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148-1E0E-FE4D-A067-AEE1AE24A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 the seven capacitive touch pads to send </a:t>
            </a:r>
            <a:r>
              <a:rPr lang="en-US" dirty="0" err="1"/>
              <a:t>NoteOn</a:t>
            </a:r>
            <a:r>
              <a:rPr lang="en-US" dirty="0"/>
              <a:t> and </a:t>
            </a:r>
            <a:r>
              <a:rPr lang="en-US" dirty="0" err="1"/>
              <a:t>NoteOff</a:t>
            </a:r>
            <a:r>
              <a:rPr lang="en-US" dirty="0"/>
              <a:t> messages</a:t>
            </a:r>
          </a:p>
          <a:p>
            <a:pPr lvl="1"/>
            <a:r>
              <a:rPr lang="en-US" dirty="0" err="1"/>
              <a:t>NoteOn</a:t>
            </a:r>
            <a:r>
              <a:rPr lang="en-US" dirty="0"/>
              <a:t> should send when touched, </a:t>
            </a:r>
            <a:r>
              <a:rPr lang="en-US" dirty="0" err="1"/>
              <a:t>NoteOff</a:t>
            </a:r>
            <a:r>
              <a:rPr lang="en-US" dirty="0"/>
              <a:t> should send when released</a:t>
            </a:r>
          </a:p>
          <a:p>
            <a:r>
              <a:rPr lang="en-US" dirty="0"/>
              <a:t>Start on C4</a:t>
            </a:r>
          </a:p>
          <a:p>
            <a:r>
              <a:rPr lang="en-US" dirty="0"/>
              <a:t>For testing, connect to the MIDI Monitor as an input and watch the message stream</a:t>
            </a:r>
          </a:p>
          <a:p>
            <a:pPr lvl="1"/>
            <a:r>
              <a:rPr lang="en-US" dirty="0"/>
              <a:t>You will also be able to hear the notes if Play Notes is checked off</a:t>
            </a:r>
          </a:p>
          <a:p>
            <a:r>
              <a:rPr lang="en-US" dirty="0"/>
              <a:t>Bonus: light up the </a:t>
            </a:r>
            <a:r>
              <a:rPr lang="en-US" dirty="0" err="1"/>
              <a:t>NeoPixels</a:t>
            </a:r>
            <a:r>
              <a:rPr lang="en-US" dirty="0"/>
              <a:t> a different color for each </a:t>
            </a:r>
            <a:r>
              <a:rPr lang="en-US" dirty="0" err="1"/>
              <a:t>NoteOn</a:t>
            </a:r>
            <a:r>
              <a:rPr lang="en-US" dirty="0"/>
              <a:t> message, turn off for </a:t>
            </a:r>
            <a:r>
              <a:rPr lang="en-US" dirty="0" err="1"/>
              <a:t>NoteOff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574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63510-C655-A8F3-CA28-B4D651F0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Change Octaves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7B7D6-679C-F98B-ECF4-71D29702D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on the cap touch keyboard code:</a:t>
            </a:r>
          </a:p>
          <a:p>
            <a:r>
              <a:rPr lang="en-US" dirty="0"/>
              <a:t>Use the D4 and D5 buttons to go up or down an octave for the notes that are sent</a:t>
            </a:r>
          </a:p>
          <a:p>
            <a:r>
              <a:rPr lang="en-US" dirty="0"/>
              <a:t>For testing, connect to the MIDI Monitor as an input and watch the message stream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28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05A94-4195-3764-3D90-4025CC7F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Send CC Messages with the Accelerometer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016A2-69E6-9468-BE9E-FC0D0E2A3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Modulation CC values to the MIDI Monitor</a:t>
            </a:r>
          </a:p>
          <a:p>
            <a:r>
              <a:rPr lang="en-US" dirty="0"/>
              <a:t>Use </a:t>
            </a:r>
            <a:r>
              <a:rPr lang="en-US" dirty="0" err="1"/>
              <a:t>simpleio</a:t>
            </a:r>
            <a:r>
              <a:rPr lang="en-US" dirty="0"/>
              <a:t> </a:t>
            </a:r>
            <a:r>
              <a:rPr lang="en-US" dirty="0" err="1"/>
              <a:t>map_range</a:t>
            </a:r>
            <a:r>
              <a:rPr lang="en-US" dirty="0"/>
              <a:t> to map the accelerometer values to the CC range (0-127)</a:t>
            </a:r>
          </a:p>
          <a:p>
            <a:pPr lvl="1"/>
            <a:r>
              <a:rPr lang="en-US" dirty="0"/>
              <a:t>Hint: it may be helpful to run accelerometer code first to get a better idea of the value ranges before adding MIDI</a:t>
            </a:r>
          </a:p>
          <a:p>
            <a:r>
              <a:rPr lang="en-US" dirty="0"/>
              <a:t>For testing, connect to the MIDI Monitor as an input and watch the message stream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348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846D1-F22A-4F88-CCF4-06F47455A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Send CC Messages with the Light 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1BB2-857D-C1AF-B1D3-07C34FE9A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Modulation CC values to the MIDI Monitor</a:t>
            </a:r>
          </a:p>
          <a:p>
            <a:r>
              <a:rPr lang="en-US" dirty="0"/>
              <a:t>Use </a:t>
            </a:r>
            <a:r>
              <a:rPr lang="en-US" dirty="0" err="1"/>
              <a:t>simpleio</a:t>
            </a:r>
            <a:r>
              <a:rPr lang="en-US" dirty="0"/>
              <a:t> </a:t>
            </a:r>
            <a:r>
              <a:rPr lang="en-US" dirty="0" err="1"/>
              <a:t>map_range</a:t>
            </a:r>
            <a:r>
              <a:rPr lang="en-US" dirty="0"/>
              <a:t> to map the light sensor values to the CC range (0-127)</a:t>
            </a:r>
          </a:p>
          <a:p>
            <a:pPr lvl="1"/>
            <a:r>
              <a:rPr lang="en-US" dirty="0"/>
              <a:t>Hint: it may be helpful to run light sensor code first to get a better idea of the value ranges before adding MIDI</a:t>
            </a:r>
          </a:p>
          <a:p>
            <a:r>
              <a:rPr lang="en-US" dirty="0"/>
              <a:t>For testing, connect to the MIDI Monitor as an input and watch the message stream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233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A835-7C3E-2B6A-AA1D-41B87E33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BLE MIDI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9125E-BBB5-6C5C-1EFB-1805E9751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your favorite demo so far and change the MIDI </a:t>
            </a:r>
            <a:r>
              <a:rPr lang="en-US" dirty="0" err="1"/>
              <a:t>init</a:t>
            </a:r>
            <a:r>
              <a:rPr lang="en-US" dirty="0"/>
              <a:t> at the top of the code from USB to BLE</a:t>
            </a:r>
          </a:p>
        </p:txBody>
      </p:sp>
    </p:spTree>
    <p:extLst>
      <p:ext uri="{BB962C8B-B14F-4D97-AF65-F5344CB8AC3E}">
        <p14:creationId xmlns:p14="http://schemas.microsoft.com/office/powerpoint/2010/main" val="3833887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DE90-4CC4-BD58-C580-306703C1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MIDI Sequencer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9771F-AAD3-7F3E-4113-B09DE98EE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an 8-step sequencer on the Circuit Playground </a:t>
            </a:r>
            <a:r>
              <a:rPr lang="en-US" dirty="0" err="1"/>
              <a:t>Bluefruit</a:t>
            </a:r>
            <a:endParaRPr lang="en-US" dirty="0"/>
          </a:p>
          <a:p>
            <a:pPr lvl="1"/>
            <a:r>
              <a:rPr lang="en-US" dirty="0"/>
              <a:t>Send a </a:t>
            </a:r>
            <a:r>
              <a:rPr lang="en-US" dirty="0" err="1"/>
              <a:t>NoteOn</a:t>
            </a:r>
            <a:r>
              <a:rPr lang="en-US" dirty="0"/>
              <a:t> followed by a </a:t>
            </a:r>
            <a:r>
              <a:rPr lang="en-US" dirty="0" err="1"/>
              <a:t>NoteOff</a:t>
            </a:r>
            <a:r>
              <a:rPr lang="en-US" dirty="0"/>
              <a:t> message for a randomly selected note automatically in the loop</a:t>
            </a:r>
          </a:p>
          <a:p>
            <a:pPr lvl="1"/>
            <a:r>
              <a:rPr lang="en-US" dirty="0"/>
              <a:t>A single </a:t>
            </a:r>
            <a:r>
              <a:rPr lang="en-US" dirty="0" err="1"/>
              <a:t>NeoPixel</a:t>
            </a:r>
            <a:r>
              <a:rPr lang="en-US" dirty="0"/>
              <a:t> should light up with a </a:t>
            </a:r>
            <a:r>
              <a:rPr lang="en-US" dirty="0" err="1"/>
              <a:t>NoteOn</a:t>
            </a:r>
            <a:r>
              <a:rPr lang="en-US" dirty="0"/>
              <a:t> message, turn off with </a:t>
            </a:r>
            <a:r>
              <a:rPr lang="en-US" dirty="0" err="1"/>
              <a:t>NoteOff</a:t>
            </a:r>
            <a:endParaRPr lang="en-US" dirty="0"/>
          </a:p>
          <a:p>
            <a:pPr lvl="2"/>
            <a:r>
              <a:rPr lang="en-US" dirty="0"/>
              <a:t>The </a:t>
            </a:r>
            <a:r>
              <a:rPr lang="en-US" dirty="0" err="1"/>
              <a:t>NeoPixels</a:t>
            </a:r>
            <a:r>
              <a:rPr lang="en-US" dirty="0"/>
              <a:t> should wrap, start with pixel 0 and go up to pixel 9, wrap back to pixel 0</a:t>
            </a:r>
          </a:p>
          <a:p>
            <a:pPr lvl="1"/>
            <a:r>
              <a:rPr lang="en-US" dirty="0"/>
              <a:t>The D7 slide switch should control whether the sequencer is running</a:t>
            </a:r>
          </a:p>
          <a:p>
            <a:r>
              <a:rPr lang="en-US" dirty="0"/>
              <a:t>Bonus: use the D4 and D5 buttons to slow down or speed up the sequencer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5512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89</TotalTime>
  <Words>773</Words>
  <Application>Microsoft Office PowerPoint</Application>
  <PresentationFormat>Widescreen</PresentationFormat>
  <Paragraphs>94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Rockwell</vt:lpstr>
      <vt:lpstr>Tahoma</vt:lpstr>
      <vt:lpstr>Tw Cen MT</vt:lpstr>
      <vt:lpstr>Circuit</vt:lpstr>
      <vt:lpstr>Using MIDI with CircuitPython</vt:lpstr>
      <vt:lpstr>What is MIDI?</vt:lpstr>
      <vt:lpstr>How MIDI is Transmitted</vt:lpstr>
      <vt:lpstr>Connection Types</vt:lpstr>
      <vt:lpstr>BLE MIDI</vt:lpstr>
      <vt:lpstr>MIDI Messages</vt:lpstr>
      <vt:lpstr>Noteon and noteoff</vt:lpstr>
      <vt:lpstr>ControlChange</vt:lpstr>
      <vt:lpstr>PitchBend</vt:lpstr>
      <vt:lpstr>Let’s Build!</vt:lpstr>
      <vt:lpstr>MIDI with CircuitPython Lab</vt:lpstr>
      <vt:lpstr>How to Connect</vt:lpstr>
      <vt:lpstr>1. NeoPixel MIDI Listener</vt:lpstr>
      <vt:lpstr>2. Capacitive touch MIDI Keyboard</vt:lpstr>
      <vt:lpstr>3. Change Octaves</vt:lpstr>
      <vt:lpstr>4. Send CC Messages with the Accelerometer</vt:lpstr>
      <vt:lpstr>5. Send CC Messages with the Light Sensor</vt:lpstr>
      <vt:lpstr>6. BLE MIDI</vt:lpstr>
      <vt:lpstr>7. MIDI Sequencer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 Clark</dc:creator>
  <cp:lastModifiedBy>Liz Clark</cp:lastModifiedBy>
  <cp:revision>1</cp:revision>
  <dcterms:created xsi:type="dcterms:W3CDTF">2026-09-24T15:04:45Z</dcterms:created>
  <dcterms:modified xsi:type="dcterms:W3CDTF">2026-09-24T16:34:00Z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