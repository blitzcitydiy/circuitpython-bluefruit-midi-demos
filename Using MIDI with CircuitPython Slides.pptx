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9" r:id="rId4"/>
  </p:sldMasterIdLst>
  <p:notesMasterIdLst>
    <p:notesMasterId r:id="rId24"/>
  </p:notesMasterIdLst>
  <p:handoutMasterIdLst>
    <p:handoutMasterId r:id="rId25"/>
  </p:handoutMasterIdLst>
  <p:sldIdLst>
    <p:sldId id="256" r:id="rId5"/>
    <p:sldId id="258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80" r:id="rId21"/>
    <p:sldId id="279" r:id="rId22"/>
    <p:sldId id="278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47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0" d="100"/>
          <a:sy n="60" d="100"/>
        </p:scale>
        <p:origin x="1670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9B3372-74CF-4E21-A4D4-286B22AA5A6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3762BE-D43C-49F5-99A5-BF49C695927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85766F-5EC0-4797-B4D1-777FCB005B11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89E452-9BCA-4AF5-9A9C-233BF410EAA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BF9F63-CE4F-44E2-A07D-7E654DE9F57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0AC76B-F5B1-4D6E-BACD-2A80744AC92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51452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4B5EC-152C-4627-80C0-63B10D5574EF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EEE60E-651F-40CC-AD73-C00F10CE42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5417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Great example of the computer does exactly what you tell it to do. If a </a:t>
            </a:r>
            <a:r>
              <a:rPr lang="en-US" dirty="0" err="1"/>
              <a:t>noteoff</a:t>
            </a:r>
            <a:r>
              <a:rPr lang="en-US" dirty="0"/>
              <a:t> message is never sent that matches the note number, then the </a:t>
            </a:r>
            <a:r>
              <a:rPr lang="en-US" dirty="0" err="1"/>
              <a:t>noteon</a:t>
            </a:r>
            <a:r>
              <a:rPr lang="en-US" dirty="0"/>
              <a:t> keeps playing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EEE60E-651F-40CC-AD73-C00F10CE42B6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01933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25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8808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4279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615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2054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622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4141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9401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4255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284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4546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052723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531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9605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0160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60534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062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9/24/2026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09873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inspiredacoustics.com/en/MIDI_note_numbers_and_center_frequencie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midi.org/midi-1-0-control-change-messages" TargetMode="External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blitzcitydiy.github.io/CircuitPython-Bluefruit-MIDI-Demos/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8D3E5-C7A3-47DF-A374-46BF83A699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2507" y="1041400"/>
            <a:ext cx="8791575" cy="2387600"/>
          </a:xfrm>
        </p:spPr>
        <p:txBody>
          <a:bodyPr>
            <a:normAutofit/>
          </a:bodyPr>
          <a:lstStyle/>
          <a:p>
            <a:pPr algn="ctr"/>
            <a:r>
              <a:rPr lang="en-US" sz="5400" dirty="0"/>
              <a:t>Using MIDI with </a:t>
            </a:r>
            <a:r>
              <a:rPr lang="en-US" sz="5400" dirty="0" err="1"/>
              <a:t>CircuitPython</a:t>
            </a:r>
            <a:endParaRPr lang="en-US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78725B-6E40-4D82-B375-7831D81C29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dirty="0">
                <a:ea typeface="Tahoma" panose="020B0604030504040204" pitchFamily="34" charset="0"/>
                <a:cs typeface="Tahoma" panose="020B0604030504040204" pitchFamily="34" charset="0"/>
              </a:rPr>
              <a:t>Liz Clark</a:t>
            </a:r>
          </a:p>
          <a:p>
            <a:pPr algn="ctr"/>
            <a:r>
              <a:rPr lang="en-US" sz="2400" dirty="0">
                <a:ea typeface="Tahoma" panose="020B0604030504040204" pitchFamily="34" charset="0"/>
                <a:cs typeface="Tahoma" panose="020B0604030504040204" pitchFamily="34" charset="0"/>
              </a:rPr>
              <a:t>Creative Engineer, Adafruit Industries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A3D602-C083-F77B-3914-4F792798BE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7742" y="1628965"/>
            <a:ext cx="1947834" cy="205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359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MIDI?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Acronym: Music Instrument Digital Interface</a:t>
            </a:r>
          </a:p>
          <a:p>
            <a:r>
              <a:rPr lang="en-US" dirty="0"/>
              <a:t>7-bit communication protocol</a:t>
            </a:r>
          </a:p>
          <a:p>
            <a:pPr lvl="1"/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Dates back to the 1980’s</a:t>
            </a:r>
          </a:p>
          <a:p>
            <a:r>
              <a:rPr lang="en-US" dirty="0"/>
              <a:t>Dependable, predictable, reliable</a:t>
            </a: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D1E34D5-1BD6-5E09-4B45-90324164B9F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198" y="2319889"/>
            <a:ext cx="4875213" cy="2218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179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190EF-ED08-360A-0B40-0F9596C70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anchor="ctr">
            <a:normAutofit/>
          </a:bodyPr>
          <a:lstStyle/>
          <a:p>
            <a:r>
              <a:rPr lang="en-US" dirty="0"/>
              <a:t>How MIDI is Transmitted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4923D54-9995-9AC0-6C21-ED1C996AD93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l="2461" r="20060"/>
          <a:stretch>
            <a:fillRect/>
          </a:stretch>
        </p:blipFill>
        <p:spPr>
          <a:xfrm>
            <a:off x="1141410" y="2249486"/>
            <a:ext cx="4878389" cy="3541714"/>
          </a:xfrm>
          <a:prstGeom prst="rect">
            <a:avLst/>
          </a:prstGeom>
          <a:noFill/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47197C-E30F-8C7C-5E64-AC651C1AA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000" dirty="0"/>
              <a:t>Bidirectional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MIDI in: </a:t>
            </a:r>
            <a:r>
              <a:rPr lang="en-US" b="1" dirty="0"/>
              <a:t>receiving</a:t>
            </a:r>
            <a:r>
              <a:rPr lang="en-US" dirty="0"/>
              <a:t> MIDI messages as an </a:t>
            </a:r>
            <a:r>
              <a:rPr lang="en-US" b="1" dirty="0"/>
              <a:t>input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MIDI out: </a:t>
            </a:r>
            <a:r>
              <a:rPr lang="en-US" b="1" dirty="0"/>
              <a:t>sending</a:t>
            </a:r>
            <a:r>
              <a:rPr lang="en-US" dirty="0"/>
              <a:t> MIDI messages as an </a:t>
            </a:r>
            <a:r>
              <a:rPr lang="en-US" b="1" dirty="0"/>
              <a:t>output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MIDI Channels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Messages are sent via channels, 1-16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Allow devices to know what and who to listen to</a:t>
            </a:r>
          </a:p>
        </p:txBody>
      </p:sp>
    </p:spTree>
    <p:extLst>
      <p:ext uri="{BB962C8B-B14F-4D97-AF65-F5344CB8AC3E}">
        <p14:creationId xmlns:p14="http://schemas.microsoft.com/office/powerpoint/2010/main" val="3073851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98F0B-43FA-8D01-4777-BC036FBDF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Types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91EA12-91E6-6CC7-3090-225ADFC64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8160" y="4148142"/>
            <a:ext cx="3195240" cy="576262"/>
          </a:xfrm>
        </p:spPr>
        <p:txBody>
          <a:bodyPr/>
          <a:lstStyle/>
          <a:p>
            <a:r>
              <a:rPr lang="en-US" dirty="0"/>
              <a:t>DIN-5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7CD83CC9-C01E-5DB9-1775-7AE1C21F9E0F}"/>
              </a:ext>
            </a:extLst>
          </p:cNvPr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 t="7609" b="7609"/>
          <a:stretch>
            <a:fillRect/>
          </a:stretch>
        </p:blipFill>
        <p:spPr>
          <a:xfrm>
            <a:off x="1144591" y="2453404"/>
            <a:ext cx="3195240" cy="1524000"/>
          </a:xfrm>
          <a:prstGeom prst="round2DiagRect">
            <a:avLst/>
          </a:prstGeom>
          <a:ln w="19050" cap="sq">
            <a:solidFill>
              <a:srgbClr val="DFE3E5">
                <a:lumMod val="60000"/>
                <a:lumOff val="40000"/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8F26938-7203-0503-8379-AF3E118B375D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1148160" y="4724404"/>
            <a:ext cx="3195240" cy="817843"/>
          </a:xfrm>
        </p:spPr>
        <p:txBody>
          <a:bodyPr>
            <a:normAutofit fontScale="925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original MIDI connector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Different circuit for MIDI in and MIDI 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F87009B-E077-5DF2-54B6-C13B2B42FE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495800" y="4148142"/>
            <a:ext cx="3200400" cy="576262"/>
          </a:xfrm>
        </p:spPr>
        <p:txBody>
          <a:bodyPr/>
          <a:lstStyle/>
          <a:p>
            <a:r>
              <a:rPr lang="en-US" dirty="0"/>
              <a:t>TRS-A/TRS-B</a:t>
            </a:r>
          </a:p>
        </p:txBody>
      </p:sp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840BBBB4-FDA9-1F4A-B2EA-32D5E696786C}"/>
              </a:ext>
            </a:extLst>
          </p:cNvPr>
          <p:cNvPicPr>
            <a:picLocks noGrp="1" noChangeAspect="1"/>
          </p:cNvPicPr>
          <p:nvPr>
            <p:ph type="pic" idx="21"/>
          </p:nvPr>
        </p:nvPicPr>
        <p:blipFill>
          <a:blip r:embed="rId3"/>
          <a:srcRect t="7651" b="7651"/>
          <a:stretch>
            <a:fillRect/>
          </a:stretch>
        </p:blipFill>
        <p:spPr>
          <a:xfrm>
            <a:off x="4492231" y="2453404"/>
            <a:ext cx="3198940" cy="1524000"/>
          </a:xfrm>
          <a:prstGeom prst="round2DiagRect">
            <a:avLst/>
          </a:prstGeom>
          <a:ln w="19050" cap="sq">
            <a:solidFill>
              <a:srgbClr val="DFE3E5">
                <a:lumMod val="60000"/>
                <a:lumOff val="40000"/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AA8311F-775C-63A1-B37C-6935F8EF7AE6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494340" y="4724402"/>
            <a:ext cx="3200400" cy="1523997"/>
          </a:xfrm>
        </p:spPr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MIDI via an 1/8” audio jack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Small form factor, but not always standardized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Different circuit for MIDI in and MIDI out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08714F1-3E10-C4D5-7661-A075BFD15F8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59314" y="4148141"/>
            <a:ext cx="3190741" cy="576262"/>
          </a:xfrm>
        </p:spPr>
        <p:txBody>
          <a:bodyPr/>
          <a:lstStyle/>
          <a:p>
            <a:r>
              <a:rPr lang="en-US" dirty="0"/>
              <a:t>USB</a:t>
            </a:r>
          </a:p>
        </p:txBody>
      </p:sp>
      <p:pic>
        <p:nvPicPr>
          <p:cNvPr id="19" name="Picture Placeholder 18">
            <a:extLst>
              <a:ext uri="{FF2B5EF4-FFF2-40B4-BE49-F238E27FC236}">
                <a16:creationId xmlns:a16="http://schemas.microsoft.com/office/drawing/2014/main" id="{FCCE9545-4CBC-80D9-B7FB-D4CF6A84BFB8}"/>
              </a:ext>
            </a:extLst>
          </p:cNvPr>
          <p:cNvPicPr>
            <a:picLocks noGrp="1" noChangeAspect="1"/>
          </p:cNvPicPr>
          <p:nvPr>
            <p:ph type="pic" idx="22"/>
          </p:nvPr>
        </p:nvPicPr>
        <p:blipFill>
          <a:blip r:embed="rId4"/>
          <a:srcRect t="18228" b="18228"/>
          <a:stretch>
            <a:fillRect/>
          </a:stretch>
        </p:blipFill>
        <p:spPr>
          <a:xfrm>
            <a:off x="7855620" y="2453404"/>
            <a:ext cx="3194969" cy="1524000"/>
          </a:xfrm>
          <a:prstGeom prst="round2DiagRect">
            <a:avLst/>
          </a:prstGeom>
          <a:ln w="19050" cap="sq">
            <a:solidFill>
              <a:srgbClr val="DFE3E5">
                <a:lumMod val="60000"/>
                <a:lumOff val="40000"/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11E6095-EED4-EF2B-1517-826ED889D640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859189" y="4724400"/>
            <a:ext cx="3194968" cy="152400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Plug and play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Bidirectional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You’ll be using this today</a:t>
            </a:r>
          </a:p>
        </p:txBody>
      </p:sp>
    </p:spTree>
    <p:extLst>
      <p:ext uri="{BB962C8B-B14F-4D97-AF65-F5344CB8AC3E}">
        <p14:creationId xmlns:p14="http://schemas.microsoft.com/office/powerpoint/2010/main" val="32133895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B76C4-5A1E-3FB7-CA24-1A2A44889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anchor="ctr">
            <a:normAutofit/>
          </a:bodyPr>
          <a:lstStyle/>
          <a:p>
            <a:r>
              <a:rPr lang="en-US" dirty="0"/>
              <a:t>BLE MIDI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8E1A0D-86AE-A8D4-3D3C-C98261FF92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>
            <a:normAutofit/>
          </a:bodyPr>
          <a:lstStyle/>
          <a:p>
            <a:r>
              <a:rPr lang="en-US" dirty="0"/>
              <a:t>Wireless MIDI transmission</a:t>
            </a:r>
          </a:p>
          <a:p>
            <a:r>
              <a:rPr lang="en-US" dirty="0"/>
              <a:t>Support is available in </a:t>
            </a:r>
            <a:r>
              <a:rPr lang="en-US" dirty="0" err="1"/>
              <a:t>CircuitPython</a:t>
            </a:r>
            <a:endParaRPr lang="en-US" dirty="0"/>
          </a:p>
          <a:p>
            <a:pPr lvl="1"/>
            <a:r>
              <a:rPr lang="en-US" sz="2400"/>
              <a:t>Can be used on the Circuit Playground </a:t>
            </a:r>
            <a:r>
              <a:rPr lang="en-US" sz="2400" err="1"/>
              <a:t>Bluefruit</a:t>
            </a:r>
            <a:endParaRPr lang="en-US" sz="240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97DAD5C-0819-A043-50FA-C15E824C23A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r="22571"/>
          <a:stretch>
            <a:fillRect/>
          </a:stretch>
        </p:blipFill>
        <p:spPr>
          <a:xfrm>
            <a:off x="6172200" y="2249486"/>
            <a:ext cx="4875211" cy="354171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58840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4AF62-E871-A22E-88C5-C4082203A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MIDI Messages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2267CC5-0592-FA60-431E-2F8C93A0A9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89413" y="2591594"/>
            <a:ext cx="38100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971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4AAFE-AE59-B387-8747-05B8F467E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anchor="ctr">
            <a:normAutofit/>
          </a:bodyPr>
          <a:lstStyle/>
          <a:p>
            <a:r>
              <a:rPr lang="en-US" dirty="0" err="1"/>
              <a:t>Noteon</a:t>
            </a:r>
            <a:r>
              <a:rPr lang="en-US" dirty="0"/>
              <a:t> and </a:t>
            </a:r>
            <a:r>
              <a:rPr lang="en-US" dirty="0" err="1"/>
              <a:t>noteoff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43A96-D479-A70A-F8A9-AD8E35AFE9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200"/>
              <a:t>How notes are played</a:t>
            </a:r>
          </a:p>
          <a:p>
            <a:pPr lvl="1">
              <a:lnSpc>
                <a:spcPct val="110000"/>
              </a:lnSpc>
            </a:pPr>
            <a:r>
              <a:rPr lang="en-US" sz="2200"/>
              <a:t>i.e. when you play a piano keyboard</a:t>
            </a:r>
          </a:p>
          <a:p>
            <a:pPr>
              <a:lnSpc>
                <a:spcPct val="110000"/>
              </a:lnSpc>
            </a:pPr>
            <a:r>
              <a:rPr lang="en-US" sz="2200"/>
              <a:t>Notes in MIDI are numbered 1-127</a:t>
            </a:r>
          </a:p>
          <a:p>
            <a:pPr lvl="1">
              <a:lnSpc>
                <a:spcPct val="110000"/>
              </a:lnSpc>
            </a:pPr>
            <a:r>
              <a:rPr lang="en-US" sz="2200"/>
              <a:t>Ex: C4/Middle C is 60</a:t>
            </a:r>
          </a:p>
          <a:p>
            <a:pPr lvl="1">
              <a:lnSpc>
                <a:spcPct val="110000"/>
              </a:lnSpc>
            </a:pPr>
            <a:r>
              <a:rPr lang="en-US" sz="2200" cap="all">
                <a:hlinkClick r:id="rId3"/>
              </a:rPr>
              <a:t>MIDI note numbers and center frequencies</a:t>
            </a:r>
            <a:endParaRPr lang="en-US" sz="2200"/>
          </a:p>
          <a:p>
            <a:pPr>
              <a:lnSpc>
                <a:spcPct val="110000"/>
              </a:lnSpc>
            </a:pPr>
            <a:r>
              <a:rPr lang="en-US" sz="2200"/>
              <a:t>Velocity: strength, force, loudness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3646D60-73C2-3279-64E7-B055EF39245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rcRect l="15995" r="6576"/>
          <a:stretch>
            <a:fillRect/>
          </a:stretch>
        </p:blipFill>
        <p:spPr>
          <a:xfrm>
            <a:off x="6172200" y="2249486"/>
            <a:ext cx="4875211" cy="354171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3492496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34220-2EBB-11A1-C039-DF2F1A51B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Change (CC)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3B2DBD9-3C6F-A0F1-20BE-FC51E141757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141413" y="2648298"/>
            <a:ext cx="4878387" cy="2744092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0DD54C-549C-64E7-2F0C-56064D0444E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Utility messages, functionality varies</a:t>
            </a:r>
          </a:p>
          <a:p>
            <a:pPr lvl="1"/>
            <a:r>
              <a:rPr lang="en-US" dirty="0"/>
              <a:t>Usually sent by a knob or a slider</a:t>
            </a:r>
          </a:p>
          <a:p>
            <a:r>
              <a:rPr lang="en-US" dirty="0"/>
              <a:t>Common examples: sustain, modulation, breath control</a:t>
            </a:r>
          </a:p>
          <a:p>
            <a:pPr lvl="1"/>
            <a:r>
              <a:rPr lang="en-US" dirty="0">
                <a:hlinkClick r:id="rId3"/>
              </a:rPr>
              <a:t>CC Message table</a:t>
            </a:r>
            <a:endParaRPr lang="en-US" dirty="0"/>
          </a:p>
          <a:p>
            <a:r>
              <a:rPr lang="en-US" dirty="0"/>
              <a:t>CC message contains the message number and the value (0-127)</a:t>
            </a:r>
          </a:p>
        </p:txBody>
      </p:sp>
    </p:spTree>
    <p:extLst>
      <p:ext uri="{BB962C8B-B14F-4D97-AF65-F5344CB8AC3E}">
        <p14:creationId xmlns:p14="http://schemas.microsoft.com/office/powerpoint/2010/main" val="2082901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F16B5-F5E2-47C9-570E-645282E07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PitchBend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ADE21E-0439-C596-C9B0-617667BBB4C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Special MIDI message, but very common</a:t>
            </a:r>
          </a:p>
          <a:p>
            <a:r>
              <a:rPr lang="en-US" dirty="0"/>
              <a:t>Unique range 0-16383, with 8192 as the midrange/no bend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D7FC26-DFE6-FA59-4030-754EE42D7D7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1149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E5377-2D9D-BDF9-DEF1-DC8C8FE4C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/>
          <a:p>
            <a:r>
              <a:rPr lang="en-US" dirty="0"/>
              <a:t>Let’s Build!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C32DB03-BB2C-C40F-2E78-C3EA58D6F1E2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24889" b="30725"/>
          <a:stretch>
            <a:fillRect/>
          </a:stretch>
        </p:blipFill>
        <p:spPr>
          <a:xfrm>
            <a:off x="1141411" y="606426"/>
            <a:ext cx="9912354" cy="3299778"/>
          </a:xfrm>
          <a:prstGeom prst="rect">
            <a:avLst/>
          </a:prstGeom>
          <a:noFill/>
        </p:spPr>
      </p:pic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31684BE-A008-EFCD-A4B4-BA83C25A7E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7357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02EAE-A0F5-765E-2EB5-1A5CE549E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MIDI with </a:t>
            </a:r>
            <a:r>
              <a:rPr lang="en-US" dirty="0" err="1"/>
              <a:t>CircuitPython</a:t>
            </a:r>
            <a:r>
              <a:rPr lang="en-US" dirty="0"/>
              <a:t> Lab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D15D6-B84B-EB26-6BF1-3534A91EC50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Using the Circuit Playground </a:t>
            </a:r>
            <a:r>
              <a:rPr lang="en-US" dirty="0" err="1"/>
              <a:t>Bluefruit</a:t>
            </a:r>
            <a:endParaRPr lang="en-US" dirty="0"/>
          </a:p>
          <a:p>
            <a:r>
              <a:rPr lang="en-US" dirty="0"/>
              <a:t>Interface with the </a:t>
            </a:r>
            <a:r>
              <a:rPr lang="en-US" dirty="0">
                <a:hlinkClick r:id="rId2"/>
              </a:rPr>
              <a:t>MIDI Monitor</a:t>
            </a:r>
            <a:r>
              <a:rPr lang="en-US" dirty="0"/>
              <a:t> for debugging and testing</a:t>
            </a:r>
          </a:p>
          <a:p>
            <a:pPr lvl="1"/>
            <a:r>
              <a:rPr lang="en-US" dirty="0"/>
              <a:t>Runs in your browser (Chrome, Firefox, Edge) and OS agnostic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B29AFE3-7B68-270B-3684-C2E8EC3916E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669470" y="2249488"/>
            <a:ext cx="3880673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146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9067E-C3BE-07D0-0611-DCD4A7485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Connect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A9E83E-DF0C-1798-C03D-52F2486A9B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Connect a MIDI device</a:t>
            </a:r>
          </a:p>
        </p:txBody>
      </p:sp>
      <p:pic>
        <p:nvPicPr>
          <p:cNvPr id="13" name="Picture Placeholder 12">
            <a:extLst>
              <a:ext uri="{FF2B5EF4-FFF2-40B4-BE49-F238E27FC236}">
                <a16:creationId xmlns:a16="http://schemas.microsoft.com/office/drawing/2014/main" id="{3446F4CC-3AB8-0463-82EC-D921732FE865}"/>
              </a:ext>
            </a:extLst>
          </p:cNvPr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 t="12618" b="12618"/>
          <a:stretch>
            <a:fillRect/>
          </a:stretch>
        </p:blipFill>
        <p:spPr>
          <a:prstGeom prst="round2DiagRect">
            <a:avLst/>
          </a:prstGeom>
          <a:ln w="19050" cap="sq">
            <a:solidFill>
              <a:srgbClr val="DFE3E5">
                <a:lumMod val="60000"/>
                <a:lumOff val="40000"/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08DEDD-48C3-8EB6-A624-73345E5FAE32}"/>
              </a:ext>
            </a:extLst>
          </p:cNvPr>
          <p:cNvSpPr>
            <a:spLocks noGrp="1"/>
          </p:cNvSpPr>
          <p:nvPr>
            <p:ph type="body" sz="half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9689FCD-E60D-2DFA-0417-FED874580E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Select input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56F5E235-9CC3-E00C-9146-2A5FDECA39F0}"/>
              </a:ext>
            </a:extLst>
          </p:cNvPr>
          <p:cNvPicPr>
            <a:picLocks noGrp="1" noChangeAspect="1"/>
          </p:cNvPicPr>
          <p:nvPr>
            <p:ph type="pic" idx="21"/>
          </p:nvPr>
        </p:nvPicPr>
        <p:blipFill>
          <a:blip r:embed="rId3"/>
          <a:srcRect l="519" r="519"/>
          <a:stretch>
            <a:fillRect/>
          </a:stretch>
        </p:blipFill>
        <p:spPr>
          <a:prstGeom prst="round2DiagRect">
            <a:avLst/>
          </a:prstGeom>
          <a:ln w="19050" cap="sq">
            <a:solidFill>
              <a:srgbClr val="DFE3E5">
                <a:lumMod val="60000"/>
                <a:lumOff val="40000"/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57DF844-E6C6-6FD9-AF2D-CBC70BD58B39}"/>
              </a:ext>
            </a:extLst>
          </p:cNvPr>
          <p:cNvSpPr>
            <a:spLocks noGrp="1"/>
          </p:cNvSpPr>
          <p:nvPr>
            <p:ph type="body" sz="half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2B84237-488F-42F6-75A7-1BC90D35FF7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Select output</a:t>
            </a:r>
          </a:p>
        </p:txBody>
      </p:sp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EE9BC353-BBEF-A94F-25CD-65632CE37A17}"/>
              </a:ext>
            </a:extLst>
          </p:cNvPr>
          <p:cNvPicPr>
            <a:picLocks noGrp="1" noChangeAspect="1"/>
          </p:cNvPicPr>
          <p:nvPr>
            <p:ph type="pic" idx="22"/>
          </p:nvPr>
        </p:nvPicPr>
        <p:blipFill>
          <a:blip r:embed="rId4"/>
          <a:srcRect l="1235" r="1235"/>
          <a:stretch>
            <a:fillRect/>
          </a:stretch>
        </p:blipFill>
        <p:spPr>
          <a:prstGeom prst="round2DiagRect">
            <a:avLst/>
          </a:prstGeom>
          <a:ln w="19050" cap="sq">
            <a:solidFill>
              <a:srgbClr val="DFE3E5">
                <a:lumMod val="60000"/>
                <a:lumOff val="40000"/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E4F9483-1D91-4DCA-CCDF-3982625D4F60}"/>
              </a:ext>
            </a:extLst>
          </p:cNvPr>
          <p:cNvSpPr>
            <a:spLocks noGrp="1"/>
          </p:cNvSpPr>
          <p:nvPr>
            <p:ph type="body" sz="half" idx="2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7630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33A06-560C-BE34-7CD2-2CFF20E3D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dirty="0" err="1"/>
              <a:t>NeoPixel</a:t>
            </a:r>
            <a:r>
              <a:rPr lang="en-US" dirty="0"/>
              <a:t> MIDI Listener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3C2A71-A897-482D-E5A0-36F5CA66AD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a MIDI input device</a:t>
            </a:r>
          </a:p>
          <a:p>
            <a:r>
              <a:rPr lang="en-US" dirty="0"/>
              <a:t>The code should listen for </a:t>
            </a:r>
            <a:r>
              <a:rPr lang="en-US" dirty="0" err="1"/>
              <a:t>NoteOn</a:t>
            </a:r>
            <a:r>
              <a:rPr lang="en-US" dirty="0"/>
              <a:t> and </a:t>
            </a:r>
            <a:r>
              <a:rPr lang="en-US" dirty="0" err="1"/>
              <a:t>NoteOff</a:t>
            </a:r>
            <a:r>
              <a:rPr lang="en-US" dirty="0"/>
              <a:t> messages</a:t>
            </a:r>
          </a:p>
          <a:p>
            <a:r>
              <a:rPr lang="en-US" dirty="0"/>
              <a:t>The message type and value should print to the Serial Console</a:t>
            </a:r>
          </a:p>
          <a:p>
            <a:r>
              <a:rPr lang="en-US" dirty="0"/>
              <a:t>When a message is received, the </a:t>
            </a:r>
            <a:r>
              <a:rPr lang="en-US" dirty="0" err="1"/>
              <a:t>NeoPixels</a:t>
            </a:r>
            <a:r>
              <a:rPr lang="en-US" dirty="0"/>
              <a:t> should light up</a:t>
            </a:r>
          </a:p>
          <a:p>
            <a:pPr lvl="1"/>
            <a:r>
              <a:rPr lang="en-US" dirty="0"/>
              <a:t>Each message should have a color associated with it</a:t>
            </a:r>
          </a:p>
          <a:p>
            <a:r>
              <a:rPr lang="en-US" dirty="0"/>
              <a:t>For testing, connect to the MIDI Monitor as an output and click on the keyboard notes</a:t>
            </a:r>
          </a:p>
        </p:txBody>
      </p:sp>
    </p:spTree>
    <p:extLst>
      <p:ext uri="{BB962C8B-B14F-4D97-AF65-F5344CB8AC3E}">
        <p14:creationId xmlns:p14="http://schemas.microsoft.com/office/powerpoint/2010/main" val="3028164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342A2-E811-8CDF-58EB-0AC56F935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Capacitive touch MIDI Keyboard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148-1E0E-FE4D-A067-AEE1AE24A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Use the seven capacitive touch pads to send </a:t>
            </a:r>
            <a:r>
              <a:rPr lang="en-US" dirty="0" err="1"/>
              <a:t>NoteOn</a:t>
            </a:r>
            <a:r>
              <a:rPr lang="en-US" dirty="0"/>
              <a:t> and </a:t>
            </a:r>
            <a:r>
              <a:rPr lang="en-US" dirty="0" err="1"/>
              <a:t>NoteOff</a:t>
            </a:r>
            <a:r>
              <a:rPr lang="en-US" dirty="0"/>
              <a:t> messages</a:t>
            </a:r>
          </a:p>
          <a:p>
            <a:pPr lvl="1"/>
            <a:r>
              <a:rPr lang="en-US" dirty="0" err="1"/>
              <a:t>NoteOn</a:t>
            </a:r>
            <a:r>
              <a:rPr lang="en-US" dirty="0"/>
              <a:t> should send when touched, </a:t>
            </a:r>
            <a:r>
              <a:rPr lang="en-US" dirty="0" err="1"/>
              <a:t>NoteOff</a:t>
            </a:r>
            <a:r>
              <a:rPr lang="en-US" dirty="0"/>
              <a:t> should send when released</a:t>
            </a:r>
          </a:p>
          <a:p>
            <a:r>
              <a:rPr lang="en-US" dirty="0"/>
              <a:t>Start on C4</a:t>
            </a:r>
          </a:p>
          <a:p>
            <a:r>
              <a:rPr lang="en-US" dirty="0"/>
              <a:t>For testing, connect to the MIDI Monitor as an input and watch the message stream</a:t>
            </a:r>
          </a:p>
          <a:p>
            <a:pPr lvl="1"/>
            <a:r>
              <a:rPr lang="en-US" dirty="0"/>
              <a:t>You will also be able to hear the notes if Play Notes is checked off</a:t>
            </a:r>
          </a:p>
          <a:p>
            <a:r>
              <a:rPr lang="en-US" dirty="0"/>
              <a:t>Bonus: light up the </a:t>
            </a:r>
            <a:r>
              <a:rPr lang="en-US" dirty="0" err="1"/>
              <a:t>NeoPixels</a:t>
            </a:r>
            <a:r>
              <a:rPr lang="en-US" dirty="0"/>
              <a:t> a different color for each </a:t>
            </a:r>
            <a:r>
              <a:rPr lang="en-US" dirty="0" err="1"/>
              <a:t>NoteOn</a:t>
            </a:r>
            <a:r>
              <a:rPr lang="en-US" dirty="0"/>
              <a:t> message, turn off for </a:t>
            </a:r>
            <a:r>
              <a:rPr lang="en-US" dirty="0" err="1"/>
              <a:t>NoteOff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95743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63510-C655-A8F3-CA28-B4D651F08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Change Octaves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7B7D6-679C-F98B-ECF4-71D29702DD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on the cap touch keyboard code:</a:t>
            </a:r>
          </a:p>
          <a:p>
            <a:r>
              <a:rPr lang="en-US" dirty="0"/>
              <a:t>Use the D4 and D5 buttons to go up or down an octave for the notes that are sent</a:t>
            </a:r>
          </a:p>
          <a:p>
            <a:r>
              <a:rPr lang="en-US" dirty="0"/>
              <a:t>For testing, connect to the MIDI Monitor as an input and watch the message stream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60285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05A94-4195-3764-3D90-4025CC7F7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Send CC Messages with the Accelerometer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016A2-69E6-9468-BE9E-FC0D0E2A33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Modulation CC values to the MIDI Monitor</a:t>
            </a:r>
          </a:p>
          <a:p>
            <a:r>
              <a:rPr lang="en-US" dirty="0"/>
              <a:t>Use </a:t>
            </a:r>
            <a:r>
              <a:rPr lang="en-US" dirty="0" err="1"/>
              <a:t>simpleio</a:t>
            </a:r>
            <a:r>
              <a:rPr lang="en-US" dirty="0"/>
              <a:t> </a:t>
            </a:r>
            <a:r>
              <a:rPr lang="en-US" dirty="0" err="1"/>
              <a:t>map_range</a:t>
            </a:r>
            <a:r>
              <a:rPr lang="en-US" dirty="0"/>
              <a:t> to map the accelerometer values to the CC range (0-127)</a:t>
            </a:r>
          </a:p>
          <a:p>
            <a:pPr lvl="1"/>
            <a:r>
              <a:rPr lang="en-US" dirty="0"/>
              <a:t>Hint: it may be helpful to run accelerometer code first to get a better idea of the value ranges before adding MIDI</a:t>
            </a:r>
          </a:p>
          <a:p>
            <a:r>
              <a:rPr lang="en-US" dirty="0"/>
              <a:t>For testing, connect to the MIDI Monitor as an input and watch the message stream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73482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846D1-F22A-4F88-CCF4-06F47455A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5. Send CC Messages with the Light Sensor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91BB2-857D-C1AF-B1D3-07C34FE9A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Modulation CC values to the MIDI Monitor</a:t>
            </a:r>
          </a:p>
          <a:p>
            <a:r>
              <a:rPr lang="en-US" dirty="0"/>
              <a:t>Use </a:t>
            </a:r>
            <a:r>
              <a:rPr lang="en-US" dirty="0" err="1"/>
              <a:t>simpleio</a:t>
            </a:r>
            <a:r>
              <a:rPr lang="en-US" dirty="0"/>
              <a:t> </a:t>
            </a:r>
            <a:r>
              <a:rPr lang="en-US" dirty="0" err="1"/>
              <a:t>map_range</a:t>
            </a:r>
            <a:r>
              <a:rPr lang="en-US" dirty="0"/>
              <a:t> to map the light sensor values to the CC range (0-127)</a:t>
            </a:r>
          </a:p>
          <a:p>
            <a:pPr lvl="1"/>
            <a:r>
              <a:rPr lang="en-US" dirty="0"/>
              <a:t>Hint: it may be helpful to run light sensor code first to get a better idea of the value ranges before adding MIDI</a:t>
            </a:r>
          </a:p>
          <a:p>
            <a:r>
              <a:rPr lang="en-US" dirty="0"/>
              <a:t>For testing, connect to the MIDI Monitor as an input and watch the message stream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12335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CA835-7C3E-2B6A-AA1D-41B87E33A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6. BLE MIDI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9125E-BBB5-6C5C-1EFB-1805E97514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Choose your favorite demo so far and change the MIDI </a:t>
            </a:r>
            <a:r>
              <a:rPr lang="en-US" dirty="0" err="1"/>
              <a:t>init</a:t>
            </a:r>
            <a:r>
              <a:rPr lang="en-US" dirty="0"/>
              <a:t> at the top of the code from USB to BLE</a:t>
            </a:r>
          </a:p>
        </p:txBody>
      </p:sp>
    </p:spTree>
    <p:extLst>
      <p:ext uri="{BB962C8B-B14F-4D97-AF65-F5344CB8AC3E}">
        <p14:creationId xmlns:p14="http://schemas.microsoft.com/office/powerpoint/2010/main" val="38338874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5DE90-4CC4-BD58-C580-306703C16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7. MIDI Sequencer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E9771F-AAD3-7F3E-4113-B09DE98EE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an 8-step sequencer on the Circuit Playground </a:t>
            </a:r>
            <a:r>
              <a:rPr lang="en-US" dirty="0" err="1"/>
              <a:t>Bluefruit</a:t>
            </a:r>
            <a:endParaRPr lang="en-US" dirty="0"/>
          </a:p>
          <a:p>
            <a:pPr lvl="1"/>
            <a:r>
              <a:rPr lang="en-US" dirty="0"/>
              <a:t>Send a </a:t>
            </a:r>
            <a:r>
              <a:rPr lang="en-US" dirty="0" err="1"/>
              <a:t>NoteOn</a:t>
            </a:r>
            <a:r>
              <a:rPr lang="en-US" dirty="0"/>
              <a:t> followed by a </a:t>
            </a:r>
            <a:r>
              <a:rPr lang="en-US" dirty="0" err="1"/>
              <a:t>NoteOff</a:t>
            </a:r>
            <a:r>
              <a:rPr lang="en-US" dirty="0"/>
              <a:t> message for a randomly selected note automatically in the loop</a:t>
            </a:r>
          </a:p>
          <a:p>
            <a:pPr lvl="1"/>
            <a:r>
              <a:rPr lang="en-US" dirty="0"/>
              <a:t>A single </a:t>
            </a:r>
            <a:r>
              <a:rPr lang="en-US" dirty="0" err="1"/>
              <a:t>NeoPixel</a:t>
            </a:r>
            <a:r>
              <a:rPr lang="en-US" dirty="0"/>
              <a:t> should light up with a </a:t>
            </a:r>
            <a:r>
              <a:rPr lang="en-US" dirty="0" err="1"/>
              <a:t>NoteOn</a:t>
            </a:r>
            <a:r>
              <a:rPr lang="en-US" dirty="0"/>
              <a:t> message, turn off with </a:t>
            </a:r>
            <a:r>
              <a:rPr lang="en-US" dirty="0" err="1"/>
              <a:t>NoteOff</a:t>
            </a:r>
            <a:endParaRPr lang="en-US" dirty="0"/>
          </a:p>
          <a:p>
            <a:pPr lvl="2"/>
            <a:r>
              <a:rPr lang="en-US" dirty="0"/>
              <a:t>The </a:t>
            </a:r>
            <a:r>
              <a:rPr lang="en-US" dirty="0" err="1"/>
              <a:t>NeoPixels</a:t>
            </a:r>
            <a:r>
              <a:rPr lang="en-US" dirty="0"/>
              <a:t> should wrap, start with pixel 0 and go up to pixel 9, wrap back to pixel 0</a:t>
            </a:r>
          </a:p>
          <a:p>
            <a:pPr lvl="1"/>
            <a:r>
              <a:rPr lang="en-US" dirty="0"/>
              <a:t>The D7 slide switch should control whether the sequencer is running</a:t>
            </a:r>
          </a:p>
          <a:p>
            <a:r>
              <a:rPr lang="en-US" dirty="0"/>
              <a:t>Bonus: use the D4 and D5 buttons to slow down or speed up the sequencer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655128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77815013_Problem-solution cycle_RVA_v3" id="{20834410-FC37-46AC-ACB7-FB202F8C4BA9}" vid="{1ED24379-BFF7-4E2F-B7EC-A47C906E21A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579702B-25C7-40D7-9E29-7686B11A966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7C0B241-13E5-418D-8920-D23491E2D2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7866CFD-F94E-4AE5-ACEA-86FEC0F48A10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Problemsolution cycle </Template>
  <TotalTime>277</TotalTime>
  <Words>793</Words>
  <Application>Microsoft Office PowerPoint</Application>
  <PresentationFormat>Widescreen</PresentationFormat>
  <Paragraphs>96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Tahoma</vt:lpstr>
      <vt:lpstr>Tw Cen MT</vt:lpstr>
      <vt:lpstr>Circuit</vt:lpstr>
      <vt:lpstr>Using MIDI with CircuitPython</vt:lpstr>
      <vt:lpstr>What is MIDI?</vt:lpstr>
      <vt:lpstr>How MIDI is Transmitted</vt:lpstr>
      <vt:lpstr>Connection Types</vt:lpstr>
      <vt:lpstr>BLE MIDI</vt:lpstr>
      <vt:lpstr>MIDI Messages</vt:lpstr>
      <vt:lpstr>Noteon and noteoff</vt:lpstr>
      <vt:lpstr>Control Change (CC)</vt:lpstr>
      <vt:lpstr>PitchBend</vt:lpstr>
      <vt:lpstr>Let’s Build!</vt:lpstr>
      <vt:lpstr>MIDI with CircuitPython Lab</vt:lpstr>
      <vt:lpstr>How to Connect</vt:lpstr>
      <vt:lpstr>1. NeoPixel MIDI Listener</vt:lpstr>
      <vt:lpstr>2. Capacitive touch MIDI Keyboard</vt:lpstr>
      <vt:lpstr>3. Change Octaves</vt:lpstr>
      <vt:lpstr>4. Send CC Messages with the Accelerometer</vt:lpstr>
      <vt:lpstr>5. Send CC Messages with the Light Sensor</vt:lpstr>
      <vt:lpstr>6. BLE MIDI</vt:lpstr>
      <vt:lpstr>7. MIDI Sequencer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Liz Clark</dc:creator>
  <cp:lastModifiedBy>Liz Clark</cp:lastModifiedBy>
  <cp:revision>2</cp:revision>
  <dcterms:created xsi:type="dcterms:W3CDTF">2026-09-24T15:04:45Z</dcterms:created>
  <dcterms:modified xsi:type="dcterms:W3CDTF">2026-09-24T19:42:25Z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