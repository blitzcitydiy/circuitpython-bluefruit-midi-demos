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03" autoAdjust="0"/>
    <p:restoredTop sz="94660"/>
  </p:normalViewPr>
  <p:slideViewPr>
    <p:cSldViewPr snapToGrid="0">
      <p:cViewPr varScale="1">
        <p:scale>
          <a:sx n="59" d="100"/>
          <a:sy n="59" d="100"/>
        </p:scale>
        <p:origin x="201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3BE69-4888-4F3C-BFD3-69E05CABA56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EAB9F-69CA-40BA-A2D3-42E3434B0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544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3BE69-4888-4F3C-BFD3-69E05CABA56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EAB9F-69CA-40BA-A2D3-42E3434B0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562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3BE69-4888-4F3C-BFD3-69E05CABA56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EAB9F-69CA-40BA-A2D3-42E3434B0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126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3BE69-4888-4F3C-BFD3-69E05CABA56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EAB9F-69CA-40BA-A2D3-42E3434B0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932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3BE69-4888-4F3C-BFD3-69E05CABA56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EAB9F-69CA-40BA-A2D3-42E3434B0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291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3BE69-4888-4F3C-BFD3-69E05CABA56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EAB9F-69CA-40BA-A2D3-42E3434B0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886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3BE69-4888-4F3C-BFD3-69E05CABA56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EAB9F-69CA-40BA-A2D3-42E3434B0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249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3BE69-4888-4F3C-BFD3-69E05CABA56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EAB9F-69CA-40BA-A2D3-42E3434B0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378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3BE69-4888-4F3C-BFD3-69E05CABA56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EAB9F-69CA-40BA-A2D3-42E3434B0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549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3BE69-4888-4F3C-BFD3-69E05CABA56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EAB9F-69CA-40BA-A2D3-42E3434B0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407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3BE69-4888-4F3C-BFD3-69E05CABA56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EAB9F-69CA-40BA-A2D3-42E3434B0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587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F3BE69-4888-4F3C-BFD3-69E05CABA56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4EAB9F-69CA-40BA-A2D3-42E3434B0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212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circuitpython.org/en/latest/shared-bindings/analogio/index.html" TargetMode="External"/><Relationship Id="rId3" Type="http://schemas.openxmlformats.org/officeDocument/2006/relationships/hyperlink" Target="https://docs.circuitpython.org/projects/midi/en/latest/api.html" TargetMode="External"/><Relationship Id="rId7" Type="http://schemas.openxmlformats.org/officeDocument/2006/relationships/hyperlink" Target="https://docs.circuitpython.org/en/latest/shared-bindings/touchio/" TargetMode="External"/><Relationship Id="rId12" Type="http://schemas.openxmlformats.org/officeDocument/2006/relationships/hyperlink" Target="https://inspiredacoustics.com/en/MIDI_note_numbers_and_center_frequencies" TargetMode="External"/><Relationship Id="rId2" Type="http://schemas.openxmlformats.org/officeDocument/2006/relationships/hyperlink" Target="https://blitzcitydiy.github.io/CircuitPython-Bluefruit-MIDI-Demos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circuitpython.org/projects/simpleio/en/latest/examples.html#id3" TargetMode="External"/><Relationship Id="rId11" Type="http://schemas.openxmlformats.org/officeDocument/2006/relationships/hyperlink" Target="https://midi.org/midi-1-0-control-change-messages" TargetMode="External"/><Relationship Id="rId5" Type="http://schemas.openxmlformats.org/officeDocument/2006/relationships/hyperlink" Target="https://docs.circuitpython.org/projects/neopixel/en/latest/api.html" TargetMode="External"/><Relationship Id="rId10" Type="http://schemas.openxmlformats.org/officeDocument/2006/relationships/hyperlink" Target="https://docs.circuitpython.org/projects/debouncer/en/latest/api.html" TargetMode="External"/><Relationship Id="rId4" Type="http://schemas.openxmlformats.org/officeDocument/2006/relationships/hyperlink" Target="https://docs.circuitpython.org/projects/lis3dh/en/latest/api.html" TargetMode="External"/><Relationship Id="rId9" Type="http://schemas.openxmlformats.org/officeDocument/2006/relationships/hyperlink" Target="https://docs.circuitpython.org/projects/ble_midi/en/latest/api.html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litzCityDIY/CircuitPython-Bluefruit-MIDI-Demos/blob/main/demos/NeoPixel_MIDI_Listener/code.py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litzCityDIY/CircuitPython-Bluefruit-MIDI-Demos/blob/main/demos/Touch_MIDI_Keyboard/code.py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litzCityDIY/CircuitPython-Bluefruit-MIDI-Demos/blob/main/demos/Octave_Shift_Keyboard/code.py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litzCityDIY/CircuitPython-Bluefruit-MIDI-Demos/blob/main/demos/Light_Sensor_Send_CC/code.py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litzCityDIY/CircuitPython-Bluefruit-MIDI-Demos/blob/main/demos/Accelerometer_Send_PitchBend/code.py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litzCityDIY/CircuitPython-Bluefruit-MIDI-Demos/blob/main/demos/BLE_MIDI_Demo/code.py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5C9460-2EF6-BA7D-DC94-4CA8BBAE0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1130700"/>
          </a:xfrm>
        </p:spPr>
        <p:txBody>
          <a:bodyPr/>
          <a:lstStyle/>
          <a:p>
            <a:r>
              <a:rPr lang="en-US" dirty="0"/>
              <a:t>MIDI with </a:t>
            </a:r>
            <a:r>
              <a:rPr lang="en-US" dirty="0" err="1"/>
              <a:t>CircuitPython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6563802-9867-503E-B21F-45BECA8C9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8" y="2155371"/>
            <a:ext cx="5915025" cy="8825897"/>
          </a:xfrm>
        </p:spPr>
        <p:txBody>
          <a:bodyPr>
            <a:normAutofit/>
          </a:bodyPr>
          <a:lstStyle/>
          <a:p>
            <a:r>
              <a:rPr lang="en-US" dirty="0"/>
              <a:t>Materials</a:t>
            </a:r>
          </a:p>
          <a:p>
            <a:pPr lvl="1"/>
            <a:r>
              <a:rPr lang="en-US" dirty="0"/>
              <a:t>Circuit Playground </a:t>
            </a:r>
            <a:r>
              <a:rPr lang="en-US" dirty="0" err="1"/>
              <a:t>Bluefruit</a:t>
            </a:r>
            <a:r>
              <a:rPr lang="en-US" dirty="0"/>
              <a:t> (CPB)</a:t>
            </a:r>
          </a:p>
          <a:p>
            <a:pPr lvl="1"/>
            <a:r>
              <a:rPr lang="en-US" dirty="0"/>
              <a:t>USB cable</a:t>
            </a:r>
          </a:p>
          <a:p>
            <a:r>
              <a:rPr lang="en-US" dirty="0"/>
              <a:t>Software</a:t>
            </a:r>
          </a:p>
          <a:p>
            <a:pPr lvl="1"/>
            <a:r>
              <a:rPr lang="en-US" dirty="0">
                <a:hlinkClick r:id="rId2"/>
              </a:rPr>
              <a:t>MIDI Monitor </a:t>
            </a:r>
          </a:p>
          <a:p>
            <a:pPr lvl="2"/>
            <a:r>
              <a:rPr lang="en-US" dirty="0"/>
              <a:t>Runs in the browser (Chrome, Firefox, Edge) and will let you monitor incoming MIDI data and send MIDI date to the CPB</a:t>
            </a:r>
          </a:p>
          <a:p>
            <a:r>
              <a:rPr lang="en-US" dirty="0"/>
              <a:t>Reference Links</a:t>
            </a:r>
          </a:p>
          <a:p>
            <a:pPr lvl="1"/>
            <a:r>
              <a:rPr lang="en-US" dirty="0" err="1"/>
              <a:t>CircuitPython</a:t>
            </a:r>
            <a:r>
              <a:rPr lang="en-US" dirty="0"/>
              <a:t> Library Docs</a:t>
            </a:r>
          </a:p>
          <a:p>
            <a:pPr lvl="2"/>
            <a:r>
              <a:rPr lang="en-US" dirty="0" err="1"/>
              <a:t>adafruit_midi</a:t>
            </a:r>
            <a:r>
              <a:rPr lang="en-US" dirty="0"/>
              <a:t>: </a:t>
            </a:r>
            <a:r>
              <a:rPr lang="en-US" dirty="0">
                <a:hlinkClick r:id="rId3"/>
              </a:rPr>
              <a:t>https://docs.circuitpython.org/projects/midi/en/latest/api.html</a:t>
            </a:r>
            <a:endParaRPr lang="en-US" dirty="0"/>
          </a:p>
          <a:p>
            <a:pPr lvl="2"/>
            <a:r>
              <a:rPr lang="en-US" dirty="0"/>
              <a:t>adafruit_lis3dh: </a:t>
            </a:r>
            <a:r>
              <a:rPr lang="en-US" dirty="0">
                <a:hlinkClick r:id="rId4"/>
              </a:rPr>
              <a:t>https://docs.circuitpython.org/projects/lis3dh/en/latest/api.html</a:t>
            </a:r>
            <a:r>
              <a:rPr lang="en-US" dirty="0"/>
              <a:t> </a:t>
            </a:r>
          </a:p>
          <a:p>
            <a:pPr lvl="2"/>
            <a:r>
              <a:rPr lang="en-US" dirty="0" err="1"/>
              <a:t>neopixel</a:t>
            </a:r>
            <a:r>
              <a:rPr lang="en-US" dirty="0"/>
              <a:t>: </a:t>
            </a:r>
            <a:r>
              <a:rPr lang="en-US" dirty="0">
                <a:hlinkClick r:id="rId5"/>
              </a:rPr>
              <a:t>https://docs.circuitpython.org/projects/neopixel/en/latest/api.html</a:t>
            </a:r>
            <a:endParaRPr lang="en-US" dirty="0"/>
          </a:p>
          <a:p>
            <a:pPr lvl="2"/>
            <a:r>
              <a:rPr lang="en-US" dirty="0" err="1"/>
              <a:t>simpleio</a:t>
            </a:r>
            <a:r>
              <a:rPr lang="en-US" dirty="0"/>
              <a:t> </a:t>
            </a:r>
            <a:r>
              <a:rPr lang="en-US" dirty="0" err="1"/>
              <a:t>map_range</a:t>
            </a:r>
            <a:r>
              <a:rPr lang="en-US" dirty="0"/>
              <a:t>(): </a:t>
            </a:r>
            <a:r>
              <a:rPr lang="en-US" dirty="0">
                <a:hlinkClick r:id="rId6"/>
              </a:rPr>
              <a:t>https://docs.circuitpython.org/projects/simpleio/en/latest/examples.html#id3</a:t>
            </a:r>
            <a:r>
              <a:rPr lang="en-US" dirty="0"/>
              <a:t> </a:t>
            </a:r>
          </a:p>
          <a:p>
            <a:pPr lvl="2"/>
            <a:r>
              <a:rPr lang="en-US" dirty="0" err="1"/>
              <a:t>touchio</a:t>
            </a:r>
            <a:r>
              <a:rPr lang="en-US" dirty="0"/>
              <a:t>: </a:t>
            </a:r>
            <a:r>
              <a:rPr lang="en-US" dirty="0">
                <a:hlinkClick r:id="rId7"/>
              </a:rPr>
              <a:t>https://docs.circuitpython.org/en/latest/shared-bindings/touchio/</a:t>
            </a:r>
            <a:r>
              <a:rPr lang="en-US" dirty="0"/>
              <a:t> </a:t>
            </a:r>
          </a:p>
          <a:p>
            <a:pPr lvl="2"/>
            <a:r>
              <a:rPr lang="en-US" dirty="0" err="1"/>
              <a:t>analogio</a:t>
            </a:r>
            <a:r>
              <a:rPr lang="en-US" dirty="0"/>
              <a:t>: </a:t>
            </a:r>
            <a:r>
              <a:rPr lang="en-US" dirty="0">
                <a:hlinkClick r:id="rId8"/>
              </a:rPr>
              <a:t>https://docs.circuitpython.org/en/latest/shared-bindings/analogio/index.html</a:t>
            </a:r>
            <a:endParaRPr lang="en-US" dirty="0"/>
          </a:p>
          <a:p>
            <a:pPr lvl="2"/>
            <a:r>
              <a:rPr lang="en-US" dirty="0" err="1"/>
              <a:t>adafruit_ble_midi</a:t>
            </a:r>
            <a:r>
              <a:rPr lang="en-US" dirty="0"/>
              <a:t>: </a:t>
            </a:r>
            <a:r>
              <a:rPr lang="en-US" dirty="0">
                <a:hlinkClick r:id="rId9"/>
              </a:rPr>
              <a:t>https://docs.circuitpython.org/projects/ble_midi/en/latest/api.html</a:t>
            </a:r>
            <a:r>
              <a:rPr lang="en-US" dirty="0"/>
              <a:t> </a:t>
            </a:r>
          </a:p>
          <a:p>
            <a:pPr lvl="2"/>
            <a:r>
              <a:rPr lang="en-US" dirty="0" err="1"/>
              <a:t>adafruit_debouncer</a:t>
            </a:r>
            <a:r>
              <a:rPr lang="en-US" dirty="0"/>
              <a:t>: </a:t>
            </a:r>
            <a:r>
              <a:rPr lang="en-US" dirty="0">
                <a:hlinkClick r:id="rId10"/>
              </a:rPr>
              <a:t>https://docs.circuitpython.org/projects/debouncer/en/latest/api.html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MIDI Links</a:t>
            </a:r>
          </a:p>
          <a:p>
            <a:pPr lvl="2"/>
            <a:r>
              <a:rPr lang="en-US" dirty="0">
                <a:hlinkClick r:id="rId11"/>
              </a:rPr>
              <a:t>Control Change Message Table</a:t>
            </a:r>
            <a:endParaRPr lang="en-US" dirty="0"/>
          </a:p>
          <a:p>
            <a:pPr lvl="2"/>
            <a:r>
              <a:rPr lang="en-US" dirty="0">
                <a:hlinkClick r:id="rId12"/>
              </a:rPr>
              <a:t>MIDI Note Numbers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3333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C2655-4B22-C53D-A84B-095860750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869443"/>
          </a:xfrm>
        </p:spPr>
        <p:txBody>
          <a:bodyPr/>
          <a:lstStyle/>
          <a:p>
            <a:r>
              <a:rPr lang="en-US" dirty="0"/>
              <a:t>1. </a:t>
            </a:r>
            <a:r>
              <a:rPr lang="en-US" dirty="0" err="1"/>
              <a:t>NeoPixel</a:t>
            </a:r>
            <a:r>
              <a:rPr lang="en-US" dirty="0"/>
              <a:t> MIDI Listener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D06F2C1-68B3-6357-9C02-4D6D1D619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8" y="1518557"/>
            <a:ext cx="5915025" cy="9462711"/>
          </a:xfrm>
        </p:spPr>
        <p:txBody>
          <a:bodyPr/>
          <a:lstStyle/>
          <a:p>
            <a:r>
              <a:rPr lang="en-US" dirty="0"/>
              <a:t>USB MIDI </a:t>
            </a:r>
            <a:r>
              <a:rPr lang="en-US" dirty="0" err="1"/>
              <a:t>init</a:t>
            </a:r>
            <a:r>
              <a:rPr lang="en-US" dirty="0"/>
              <a:t>:</a:t>
            </a:r>
          </a:p>
          <a:p>
            <a:pPr lvl="1"/>
            <a:r>
              <a:rPr lang="it-IT" dirty="0"/>
              <a:t>midi = adafruit_midi.MIDI(midi_in=usb_midi.ports[0], in_channel=0)</a:t>
            </a:r>
          </a:p>
          <a:p>
            <a:r>
              <a:rPr lang="it-IT" dirty="0"/>
              <a:t>NeoPixel init:</a:t>
            </a:r>
          </a:p>
          <a:p>
            <a:pPr lvl="1"/>
            <a:r>
              <a:rPr lang="en-US" dirty="0"/>
              <a:t>pixels = </a:t>
            </a:r>
            <a:r>
              <a:rPr lang="en-US" dirty="0" err="1"/>
              <a:t>neopixel.NeoPixel</a:t>
            </a:r>
            <a:r>
              <a:rPr lang="en-US" dirty="0"/>
              <a:t>(</a:t>
            </a:r>
            <a:r>
              <a:rPr lang="en-US" dirty="0" err="1"/>
              <a:t>board.NEOPIXEL</a:t>
            </a:r>
            <a:r>
              <a:rPr lang="en-US" dirty="0"/>
              <a:t>, 10, brightness=0.2, </a:t>
            </a:r>
            <a:r>
              <a:rPr lang="en-US" dirty="0" err="1"/>
              <a:t>auto_write</a:t>
            </a:r>
            <a:r>
              <a:rPr lang="en-US" dirty="0"/>
              <a:t>=True)</a:t>
            </a:r>
          </a:p>
          <a:p>
            <a:r>
              <a:rPr lang="en-US" dirty="0"/>
              <a:t>Create two colors using RGB values</a:t>
            </a:r>
          </a:p>
          <a:p>
            <a:pPr lvl="1"/>
            <a:r>
              <a:rPr lang="en-US" dirty="0"/>
              <a:t>Ex: RED = (255, 0, 0)</a:t>
            </a:r>
          </a:p>
          <a:p>
            <a:r>
              <a:rPr lang="en-US" dirty="0"/>
              <a:t>In the loop, listen for MIDI messages with:</a:t>
            </a:r>
          </a:p>
          <a:p>
            <a:pPr lvl="1"/>
            <a:r>
              <a:rPr lang="en-US" dirty="0"/>
              <a:t>msg = </a:t>
            </a:r>
            <a:r>
              <a:rPr lang="en-US" dirty="0" err="1"/>
              <a:t>midi.receive</a:t>
            </a:r>
            <a:r>
              <a:rPr lang="en-US" dirty="0"/>
              <a:t>()</a:t>
            </a:r>
          </a:p>
          <a:p>
            <a:r>
              <a:rPr lang="en-US" dirty="0"/>
              <a:t>Check message type with:</a:t>
            </a:r>
          </a:p>
          <a:p>
            <a:pPr lvl="1"/>
            <a:r>
              <a:rPr lang="en-US" dirty="0"/>
              <a:t>if msg is not None:</a:t>
            </a:r>
          </a:p>
          <a:p>
            <a:pPr lvl="1"/>
            <a:r>
              <a:rPr lang="en-US" dirty="0"/>
              <a:t>        if </a:t>
            </a:r>
            <a:r>
              <a:rPr lang="en-US" dirty="0" err="1"/>
              <a:t>isinstance</a:t>
            </a:r>
            <a:r>
              <a:rPr lang="en-US" dirty="0"/>
              <a:t>(msg, </a:t>
            </a:r>
            <a:r>
              <a:rPr lang="en-US" dirty="0" err="1"/>
              <a:t>NoteOn</a:t>
            </a:r>
            <a:r>
              <a:rPr lang="en-US" dirty="0"/>
              <a:t>):</a:t>
            </a:r>
          </a:p>
          <a:p>
            <a:pPr lvl="1"/>
            <a:endParaRPr lang="en-US" dirty="0"/>
          </a:p>
          <a:p>
            <a:r>
              <a:rPr lang="en-US" dirty="0">
                <a:hlinkClick r:id="rId2"/>
              </a:rPr>
              <a:t>Solution on GitHub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4823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EC38C-4AFD-AA90-D96B-BA5E50DA4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1049057"/>
          </a:xfrm>
        </p:spPr>
        <p:txBody>
          <a:bodyPr/>
          <a:lstStyle/>
          <a:p>
            <a:r>
              <a:rPr lang="en-US" dirty="0"/>
              <a:t>2. Touch MIDI Keyboard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6C99C-F426-F570-8D27-2B5A6F99A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8" y="2073729"/>
            <a:ext cx="5915025" cy="96012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USB MIDI </a:t>
            </a:r>
            <a:r>
              <a:rPr lang="en-US" dirty="0" err="1"/>
              <a:t>init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midi = </a:t>
            </a:r>
            <a:r>
              <a:rPr lang="en-US" dirty="0" err="1"/>
              <a:t>adafruit_midi.MIDI</a:t>
            </a:r>
            <a:r>
              <a:rPr lang="en-US" dirty="0"/>
              <a:t>(</a:t>
            </a:r>
            <a:r>
              <a:rPr lang="en-US" dirty="0" err="1"/>
              <a:t>midi_out</a:t>
            </a:r>
            <a:r>
              <a:rPr lang="en-US" dirty="0"/>
              <a:t>=</a:t>
            </a:r>
            <a:r>
              <a:rPr lang="en-US" dirty="0" err="1"/>
              <a:t>usb_midi.ports</a:t>
            </a:r>
            <a:r>
              <a:rPr lang="en-US" dirty="0"/>
              <a:t>[1], </a:t>
            </a:r>
            <a:r>
              <a:rPr lang="en-US" dirty="0" err="1"/>
              <a:t>out_channel</a:t>
            </a:r>
            <a:r>
              <a:rPr lang="en-US" dirty="0"/>
              <a:t>=0)</a:t>
            </a:r>
          </a:p>
          <a:p>
            <a:r>
              <a:rPr lang="en-US" dirty="0"/>
              <a:t>Lists</a:t>
            </a:r>
          </a:p>
          <a:p>
            <a:pPr lvl="1"/>
            <a:r>
              <a:rPr lang="en-US" dirty="0"/>
              <a:t>Lists are a great way to coordinate matched sets of data because you access the entries by index. Therefore, you can have a MIDI note at index 2 in a list match a touch input at index 2 in another list</a:t>
            </a:r>
          </a:p>
          <a:p>
            <a:pPr lvl="1"/>
            <a:r>
              <a:rPr lang="en-US" dirty="0"/>
              <a:t>Create a list of MIDI note numbers, the same number of touch inputs (seven):</a:t>
            </a:r>
          </a:p>
          <a:p>
            <a:pPr lvl="2"/>
            <a:r>
              <a:rPr lang="it-IT" dirty="0"/>
              <a:t>midi_notes = [60, 62, 64, etc]</a:t>
            </a:r>
          </a:p>
          <a:p>
            <a:pPr lvl="1"/>
            <a:r>
              <a:rPr lang="it-IT" dirty="0"/>
              <a:t>Create a list of the touch pins:</a:t>
            </a:r>
          </a:p>
          <a:p>
            <a:pPr lvl="2"/>
            <a:r>
              <a:rPr lang="en-US" dirty="0"/>
              <a:t>pins = [board.A1, board.A2, board.A3, board.A4, board.A5, board.A6, </a:t>
            </a:r>
            <a:r>
              <a:rPr lang="en-US" dirty="0" err="1"/>
              <a:t>board.TX</a:t>
            </a:r>
            <a:r>
              <a:rPr lang="en-US" dirty="0"/>
              <a:t>]</a:t>
            </a:r>
          </a:p>
          <a:p>
            <a:pPr lvl="1"/>
            <a:r>
              <a:rPr lang="en-US" dirty="0"/>
              <a:t>Create two empty lists:</a:t>
            </a:r>
          </a:p>
          <a:p>
            <a:pPr lvl="2"/>
            <a:r>
              <a:rPr lang="en-US" dirty="0" err="1"/>
              <a:t>touch_inputs</a:t>
            </a:r>
            <a:r>
              <a:rPr lang="en-US" dirty="0"/>
              <a:t> = []</a:t>
            </a:r>
          </a:p>
          <a:p>
            <a:pPr lvl="2"/>
            <a:r>
              <a:rPr lang="en-US" dirty="0" err="1"/>
              <a:t>touch_states</a:t>
            </a:r>
            <a:r>
              <a:rPr lang="en-US" dirty="0"/>
              <a:t> = []</a:t>
            </a:r>
          </a:p>
          <a:p>
            <a:pPr lvl="2"/>
            <a:r>
              <a:rPr lang="en-US" dirty="0"/>
              <a:t>These will hold the </a:t>
            </a:r>
            <a:r>
              <a:rPr lang="en-US" dirty="0" err="1"/>
              <a:t>touchio</a:t>
            </a:r>
            <a:r>
              <a:rPr lang="en-US" dirty="0"/>
              <a:t> inputs and the state of the touch input for debouncing</a:t>
            </a:r>
          </a:p>
          <a:p>
            <a:r>
              <a:rPr lang="en-US" dirty="0"/>
              <a:t>Use a for statement to iterate through the pins list to set them as </a:t>
            </a:r>
            <a:r>
              <a:rPr lang="en-US" dirty="0" err="1"/>
              <a:t>TouchIn</a:t>
            </a:r>
            <a:r>
              <a:rPr lang="en-US" dirty="0"/>
              <a:t> inputs and set their current touch states as False</a:t>
            </a:r>
          </a:p>
          <a:p>
            <a:pPr lvl="1"/>
            <a:r>
              <a:rPr lang="en-US" dirty="0"/>
              <a:t>for touch in pins:</a:t>
            </a:r>
          </a:p>
          <a:p>
            <a:pPr lvl="1"/>
            <a:r>
              <a:rPr lang="en-US" dirty="0"/>
              <a:t>    </a:t>
            </a:r>
            <a:r>
              <a:rPr lang="en-US" dirty="0" err="1"/>
              <a:t>touch_pin</a:t>
            </a:r>
            <a:r>
              <a:rPr lang="en-US" dirty="0"/>
              <a:t> = </a:t>
            </a:r>
            <a:r>
              <a:rPr lang="en-US" dirty="0" err="1"/>
              <a:t>touchio.TouchIn</a:t>
            </a:r>
            <a:r>
              <a:rPr lang="en-US" dirty="0"/>
              <a:t>(touch)</a:t>
            </a:r>
          </a:p>
          <a:p>
            <a:pPr lvl="1"/>
            <a:r>
              <a:rPr lang="en-US" dirty="0"/>
              <a:t>    </a:t>
            </a:r>
            <a:r>
              <a:rPr lang="en-US" dirty="0" err="1"/>
              <a:t>touch_inputs.append</a:t>
            </a:r>
            <a:r>
              <a:rPr lang="en-US" dirty="0"/>
              <a:t>(</a:t>
            </a:r>
            <a:r>
              <a:rPr lang="en-US" dirty="0" err="1"/>
              <a:t>touch_pin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    state = False</a:t>
            </a:r>
          </a:p>
          <a:p>
            <a:pPr lvl="1"/>
            <a:r>
              <a:rPr lang="en-US" dirty="0"/>
              <a:t>    </a:t>
            </a:r>
            <a:r>
              <a:rPr lang="en-US" dirty="0" err="1"/>
              <a:t>touch_states.append</a:t>
            </a:r>
            <a:r>
              <a:rPr lang="en-US" dirty="0"/>
              <a:t>(state)</a:t>
            </a:r>
          </a:p>
          <a:p>
            <a:r>
              <a:rPr lang="en-US" dirty="0"/>
              <a:t>In the loop, if touched, send a MIDI </a:t>
            </a:r>
            <a:r>
              <a:rPr lang="en-US" dirty="0" err="1"/>
              <a:t>NoteOn</a:t>
            </a:r>
            <a:r>
              <a:rPr lang="en-US" dirty="0"/>
              <a:t> message for the corresponding MIDI note, else send a MIDI </a:t>
            </a:r>
            <a:r>
              <a:rPr lang="en-US" dirty="0" err="1"/>
              <a:t>NoteOff</a:t>
            </a:r>
            <a:r>
              <a:rPr lang="en-US" dirty="0"/>
              <a:t> message for the same note</a:t>
            </a:r>
          </a:p>
          <a:p>
            <a:pPr lvl="1"/>
            <a:r>
              <a:rPr lang="en-US" dirty="0"/>
              <a:t>Use a for statement to iterate:</a:t>
            </a:r>
          </a:p>
          <a:p>
            <a:pPr lvl="2"/>
            <a:r>
              <a:rPr lang="en-US" dirty="0"/>
              <a:t> for </a:t>
            </a:r>
            <a:r>
              <a:rPr lang="en-US" dirty="0" err="1"/>
              <a:t>i</a:t>
            </a:r>
            <a:r>
              <a:rPr lang="en-US" dirty="0"/>
              <a:t> in range(</a:t>
            </a:r>
            <a:r>
              <a:rPr lang="en-US" dirty="0" err="1"/>
              <a:t>len</a:t>
            </a:r>
            <a:r>
              <a:rPr lang="en-US" dirty="0"/>
              <a:t>(</a:t>
            </a:r>
            <a:r>
              <a:rPr lang="en-US" dirty="0" err="1"/>
              <a:t>touch_inputs</a:t>
            </a:r>
            <a:r>
              <a:rPr lang="en-US" dirty="0"/>
              <a:t>)):</a:t>
            </a:r>
          </a:p>
          <a:p>
            <a:pPr lvl="2"/>
            <a:r>
              <a:rPr lang="en-US" dirty="0"/>
              <a:t>        inputs = </a:t>
            </a:r>
            <a:r>
              <a:rPr lang="en-US" dirty="0" err="1"/>
              <a:t>touch_inputs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</a:t>
            </a:r>
          </a:p>
          <a:p>
            <a:pPr lvl="1"/>
            <a:r>
              <a:rPr lang="en-US" dirty="0"/>
              <a:t>Check state with:</a:t>
            </a:r>
          </a:p>
          <a:p>
            <a:pPr lvl="2"/>
            <a:r>
              <a:rPr lang="en-US" dirty="0"/>
              <a:t>if </a:t>
            </a:r>
            <a:r>
              <a:rPr lang="en-US" dirty="0" err="1"/>
              <a:t>inputs.value</a:t>
            </a:r>
            <a:r>
              <a:rPr lang="en-US" dirty="0"/>
              <a:t> and </a:t>
            </a:r>
            <a:r>
              <a:rPr lang="en-US" dirty="0" err="1"/>
              <a:t>touch_states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is False:</a:t>
            </a:r>
          </a:p>
          <a:p>
            <a:pPr lvl="2"/>
            <a:r>
              <a:rPr lang="en-US" dirty="0"/>
              <a:t>if not </a:t>
            </a:r>
            <a:r>
              <a:rPr lang="en-US" dirty="0" err="1"/>
              <a:t>inputs.value</a:t>
            </a:r>
            <a:r>
              <a:rPr lang="en-US" dirty="0"/>
              <a:t> and </a:t>
            </a:r>
            <a:r>
              <a:rPr lang="en-US" dirty="0" err="1"/>
              <a:t>touch_states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is True:</a:t>
            </a:r>
          </a:p>
          <a:p>
            <a:pPr lvl="1"/>
            <a:r>
              <a:rPr lang="en-US" dirty="0"/>
              <a:t>Set state with:</a:t>
            </a:r>
          </a:p>
          <a:p>
            <a:pPr lvl="2"/>
            <a:r>
              <a:rPr lang="en-US" dirty="0" err="1"/>
              <a:t>touch_states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= True</a:t>
            </a:r>
          </a:p>
          <a:p>
            <a:pPr lvl="2"/>
            <a:r>
              <a:rPr lang="en-US" dirty="0" err="1"/>
              <a:t>touch_states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= False</a:t>
            </a:r>
          </a:p>
          <a:p>
            <a:pPr lvl="2"/>
            <a:r>
              <a:rPr lang="en-US" dirty="0"/>
              <a:t>Set the state to True if the touch input is True, set to False if not touched to reset</a:t>
            </a:r>
          </a:p>
          <a:p>
            <a:r>
              <a:rPr lang="en-US" dirty="0">
                <a:hlinkClick r:id="rId2"/>
              </a:rPr>
              <a:t>Solution on GitHub</a:t>
            </a:r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926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AB22B-3E68-B08C-BA99-C2463E755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6" y="649114"/>
            <a:ext cx="5915025" cy="885772"/>
          </a:xfrm>
        </p:spPr>
        <p:txBody>
          <a:bodyPr/>
          <a:lstStyle/>
          <a:p>
            <a:r>
              <a:rPr lang="en-US" dirty="0"/>
              <a:t>2B. Change Octaves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35B31-8A0B-8639-C019-E68877AEF1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5" y="1581150"/>
            <a:ext cx="5915025" cy="9029700"/>
          </a:xfrm>
        </p:spPr>
        <p:txBody>
          <a:bodyPr>
            <a:normAutofit/>
          </a:bodyPr>
          <a:lstStyle/>
          <a:p>
            <a:r>
              <a:rPr lang="en-US" dirty="0"/>
              <a:t>Build on top of the Touch MIDI Keyboard</a:t>
            </a:r>
          </a:p>
          <a:p>
            <a:r>
              <a:rPr lang="en-US" dirty="0"/>
              <a:t>The onboard buttons will change the octave that the touch inputs are sending. Begin with a starter list of notes and set the octave range:</a:t>
            </a:r>
          </a:p>
          <a:p>
            <a:pPr lvl="1"/>
            <a:r>
              <a:rPr lang="en-US" dirty="0"/>
              <a:t>BASE_NOTES = [60, 62, 64, 65, 67, 69, 71] # C scale from middle C</a:t>
            </a:r>
          </a:p>
          <a:p>
            <a:pPr lvl="1"/>
            <a:r>
              <a:rPr lang="en-US" dirty="0" err="1"/>
              <a:t>midi_notes</a:t>
            </a:r>
            <a:r>
              <a:rPr lang="en-US" dirty="0"/>
              <a:t> = BASE_NOTES</a:t>
            </a:r>
          </a:p>
          <a:p>
            <a:pPr lvl="1"/>
            <a:r>
              <a:rPr lang="en-US" dirty="0"/>
              <a:t>MIN_OCTAVE = -4   # C0 (MIDI 12)</a:t>
            </a:r>
          </a:p>
          <a:p>
            <a:pPr lvl="1"/>
            <a:r>
              <a:rPr lang="en-US" dirty="0"/>
              <a:t>MAX_OCTAVE = 3    # C7 (MIDI 96)</a:t>
            </a:r>
          </a:p>
          <a:p>
            <a:pPr lvl="1"/>
            <a:r>
              <a:rPr lang="en-US" dirty="0"/>
              <a:t>octave = 0</a:t>
            </a:r>
          </a:p>
          <a:p>
            <a:r>
              <a:rPr lang="en-US" dirty="0"/>
              <a:t>Initialize the onboard buttons with </a:t>
            </a:r>
            <a:r>
              <a:rPr lang="en-US" dirty="0" err="1"/>
              <a:t>Debouncer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buttona</a:t>
            </a:r>
            <a:r>
              <a:rPr lang="en-US" dirty="0"/>
              <a:t> = </a:t>
            </a:r>
            <a:r>
              <a:rPr lang="en-US" dirty="0" err="1"/>
              <a:t>digitalio.DigitalInOut</a:t>
            </a:r>
            <a:r>
              <a:rPr lang="en-US" dirty="0"/>
              <a:t>(</a:t>
            </a:r>
            <a:r>
              <a:rPr lang="en-US" dirty="0" err="1"/>
              <a:t>board.BUTTON_A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buttona.switch_to_input</a:t>
            </a:r>
            <a:r>
              <a:rPr lang="en-US" dirty="0"/>
              <a:t>(pull=</a:t>
            </a:r>
            <a:r>
              <a:rPr lang="en-US" dirty="0" err="1"/>
              <a:t>digitalio.Pull.DOWN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octave_down</a:t>
            </a:r>
            <a:r>
              <a:rPr lang="en-US" dirty="0"/>
              <a:t> = </a:t>
            </a:r>
            <a:r>
              <a:rPr lang="en-US" dirty="0" err="1"/>
              <a:t>Debouncer</a:t>
            </a:r>
            <a:r>
              <a:rPr lang="en-US" dirty="0"/>
              <a:t>(</a:t>
            </a:r>
            <a:r>
              <a:rPr lang="en-US" dirty="0" err="1"/>
              <a:t>buttona</a:t>
            </a:r>
            <a:r>
              <a:rPr lang="en-US" dirty="0"/>
              <a:t>)</a:t>
            </a:r>
          </a:p>
          <a:p>
            <a:pPr lvl="1"/>
            <a:endParaRPr lang="en-US" dirty="0"/>
          </a:p>
          <a:p>
            <a:pPr lvl="1"/>
            <a:r>
              <a:rPr lang="en-US" dirty="0" err="1"/>
              <a:t>buttonb</a:t>
            </a:r>
            <a:r>
              <a:rPr lang="en-US" dirty="0"/>
              <a:t> = </a:t>
            </a:r>
            <a:r>
              <a:rPr lang="en-US" dirty="0" err="1"/>
              <a:t>digitalio.DigitalInOut</a:t>
            </a:r>
            <a:r>
              <a:rPr lang="en-US" dirty="0"/>
              <a:t>(</a:t>
            </a:r>
            <a:r>
              <a:rPr lang="en-US" dirty="0" err="1"/>
              <a:t>board.BUTTON_B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buttonb.switch_to_input</a:t>
            </a:r>
            <a:r>
              <a:rPr lang="en-US" dirty="0"/>
              <a:t>(pull=</a:t>
            </a:r>
            <a:r>
              <a:rPr lang="en-US" dirty="0" err="1"/>
              <a:t>digitalio.Pull.DOWN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octave_up</a:t>
            </a:r>
            <a:r>
              <a:rPr lang="en-US" dirty="0"/>
              <a:t> = </a:t>
            </a:r>
            <a:r>
              <a:rPr lang="en-US" dirty="0" err="1"/>
              <a:t>Debouncer</a:t>
            </a:r>
            <a:r>
              <a:rPr lang="en-US" dirty="0"/>
              <a:t>(</a:t>
            </a:r>
            <a:r>
              <a:rPr lang="en-US" dirty="0" err="1"/>
              <a:t>buttonb</a:t>
            </a:r>
            <a:r>
              <a:rPr lang="en-US" dirty="0"/>
              <a:t>)</a:t>
            </a:r>
          </a:p>
          <a:p>
            <a:r>
              <a:rPr lang="en-US" dirty="0"/>
              <a:t>How to shift the notes?</a:t>
            </a:r>
          </a:p>
          <a:p>
            <a:pPr lvl="1"/>
            <a:r>
              <a:rPr lang="en-US" dirty="0"/>
              <a:t>Use a function that takes the starter list of notes and adds the octave range:</a:t>
            </a:r>
          </a:p>
          <a:p>
            <a:pPr lvl="2"/>
            <a:r>
              <a:rPr lang="en-US" dirty="0"/>
              <a:t>def </a:t>
            </a:r>
            <a:r>
              <a:rPr lang="en-US" dirty="0" err="1"/>
              <a:t>shifted_notes</a:t>
            </a:r>
            <a:r>
              <a:rPr lang="en-US" dirty="0"/>
              <a:t>():</a:t>
            </a:r>
          </a:p>
          <a:p>
            <a:pPr lvl="2"/>
            <a:r>
              <a:rPr lang="en-US" dirty="0"/>
              <a:t>    return [n + octave * 12 for n in BASE_NOTES]</a:t>
            </a:r>
          </a:p>
          <a:p>
            <a:pPr lvl="1"/>
            <a:r>
              <a:rPr lang="en-US" dirty="0"/>
              <a:t>What is that weird line of code doing? It’s an abbreviated expression that is:</a:t>
            </a:r>
          </a:p>
          <a:p>
            <a:pPr lvl="2"/>
            <a:r>
              <a:rPr lang="en-US" dirty="0"/>
              <a:t>list = []</a:t>
            </a:r>
          </a:p>
          <a:p>
            <a:pPr lvl="2"/>
            <a:r>
              <a:rPr lang="en-US" dirty="0"/>
              <a:t>for n in BASE_NOTES:</a:t>
            </a:r>
          </a:p>
          <a:p>
            <a:pPr lvl="2"/>
            <a:r>
              <a:rPr lang="en-US" dirty="0"/>
              <a:t>    note = n + octave * 12</a:t>
            </a:r>
          </a:p>
          <a:p>
            <a:pPr lvl="2"/>
            <a:r>
              <a:rPr lang="en-US" dirty="0"/>
              <a:t>    </a:t>
            </a:r>
            <a:r>
              <a:rPr lang="en-US" dirty="0" err="1"/>
              <a:t>list.append</a:t>
            </a:r>
            <a:r>
              <a:rPr lang="en-US" dirty="0"/>
              <a:t>(note)</a:t>
            </a:r>
          </a:p>
          <a:p>
            <a:pPr lvl="2"/>
            <a:r>
              <a:rPr lang="en-US" dirty="0" err="1"/>
              <a:t>midi_notes</a:t>
            </a:r>
            <a:r>
              <a:rPr lang="en-US" dirty="0"/>
              <a:t> = array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5105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20EF4-8E5D-4FEC-EC84-3AB0669D8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918429"/>
          </a:xfrm>
        </p:spPr>
        <p:txBody>
          <a:bodyPr/>
          <a:lstStyle/>
          <a:p>
            <a:r>
              <a:rPr lang="en-US" dirty="0"/>
              <a:t>2B. Change Octaves, cont’d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8FC3D-DC5F-0003-1390-B44397D9F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8" y="1567543"/>
            <a:ext cx="5915025" cy="9413725"/>
          </a:xfrm>
        </p:spPr>
        <p:txBody>
          <a:bodyPr/>
          <a:lstStyle/>
          <a:p>
            <a:r>
              <a:rPr lang="en-US" dirty="0"/>
              <a:t>In the loop, make sure to update the buttons:</a:t>
            </a:r>
          </a:p>
          <a:p>
            <a:pPr lvl="1"/>
            <a:r>
              <a:rPr lang="en-US" dirty="0"/>
              <a:t> </a:t>
            </a:r>
            <a:r>
              <a:rPr lang="en-US" dirty="0" err="1"/>
              <a:t>octave_down.update</a:t>
            </a:r>
            <a:r>
              <a:rPr lang="en-US" dirty="0"/>
              <a:t>()</a:t>
            </a:r>
          </a:p>
          <a:p>
            <a:pPr lvl="1"/>
            <a:r>
              <a:rPr lang="en-US" dirty="0"/>
              <a:t> </a:t>
            </a:r>
            <a:r>
              <a:rPr lang="en-US" dirty="0" err="1"/>
              <a:t>octave_up.update</a:t>
            </a:r>
            <a:r>
              <a:rPr lang="en-US" dirty="0"/>
              <a:t>()</a:t>
            </a:r>
          </a:p>
          <a:p>
            <a:r>
              <a:rPr lang="en-US" dirty="0"/>
              <a:t>If the buttons are pressed and the octave range has not gone past the MIN_ and MAX_ values set at the top of the code, update the </a:t>
            </a:r>
            <a:r>
              <a:rPr lang="en-US" dirty="0" err="1"/>
              <a:t>midi_notes</a:t>
            </a:r>
            <a:r>
              <a:rPr lang="en-US" dirty="0"/>
              <a:t> list with the </a:t>
            </a:r>
            <a:r>
              <a:rPr lang="en-US" dirty="0" err="1"/>
              <a:t>shifted_notes</a:t>
            </a:r>
            <a:r>
              <a:rPr lang="en-US" dirty="0"/>
              <a:t>() function</a:t>
            </a:r>
          </a:p>
          <a:p>
            <a:pPr lvl="1"/>
            <a:r>
              <a:rPr lang="en-US" dirty="0"/>
              <a:t>if </a:t>
            </a:r>
            <a:r>
              <a:rPr lang="en-US" dirty="0" err="1"/>
              <a:t>octave_down.fell</a:t>
            </a:r>
            <a:r>
              <a:rPr lang="en-US" dirty="0"/>
              <a:t> and octave &gt; MIN_OCTAVE:</a:t>
            </a:r>
          </a:p>
          <a:p>
            <a:pPr lvl="1"/>
            <a:r>
              <a:rPr lang="en-US" dirty="0"/>
              <a:t>        octave -= 1</a:t>
            </a:r>
          </a:p>
          <a:p>
            <a:pPr lvl="1"/>
            <a:r>
              <a:rPr lang="en-US" dirty="0"/>
              <a:t>        </a:t>
            </a:r>
            <a:r>
              <a:rPr lang="en-US" dirty="0" err="1"/>
              <a:t>midi_notes</a:t>
            </a:r>
            <a:r>
              <a:rPr lang="en-US" dirty="0"/>
              <a:t> = </a:t>
            </a:r>
            <a:r>
              <a:rPr lang="en-US" dirty="0" err="1"/>
              <a:t>shifted_notes</a:t>
            </a:r>
            <a:r>
              <a:rPr lang="en-US" dirty="0"/>
              <a:t>()</a:t>
            </a:r>
          </a:p>
          <a:p>
            <a:pPr lvl="1"/>
            <a:r>
              <a:rPr lang="en-US" dirty="0"/>
              <a:t>        print(octave, </a:t>
            </a:r>
            <a:r>
              <a:rPr lang="en-US" dirty="0" err="1"/>
              <a:t>midi_notes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if </a:t>
            </a:r>
            <a:r>
              <a:rPr lang="en-US" dirty="0" err="1"/>
              <a:t>octave_up.fell</a:t>
            </a:r>
            <a:r>
              <a:rPr lang="en-US" dirty="0"/>
              <a:t> and octave &lt; MAX_OCTAVE:</a:t>
            </a:r>
          </a:p>
          <a:p>
            <a:pPr lvl="1"/>
            <a:r>
              <a:rPr lang="en-US" dirty="0"/>
              <a:t>        octave += 1</a:t>
            </a:r>
          </a:p>
          <a:p>
            <a:pPr lvl="1"/>
            <a:r>
              <a:rPr lang="en-US" dirty="0"/>
              <a:t>        </a:t>
            </a:r>
            <a:r>
              <a:rPr lang="en-US" dirty="0" err="1"/>
              <a:t>midi_notes</a:t>
            </a:r>
            <a:r>
              <a:rPr lang="en-US" dirty="0"/>
              <a:t> = </a:t>
            </a:r>
            <a:r>
              <a:rPr lang="en-US" dirty="0" err="1"/>
              <a:t>shifted_notes</a:t>
            </a:r>
            <a:r>
              <a:rPr lang="en-US" dirty="0"/>
              <a:t>()</a:t>
            </a:r>
          </a:p>
          <a:p>
            <a:pPr lvl="1"/>
            <a:r>
              <a:rPr lang="en-US" dirty="0"/>
              <a:t>        print(octave, </a:t>
            </a:r>
            <a:r>
              <a:rPr lang="en-US" dirty="0" err="1"/>
              <a:t>midi_notes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>
                <a:hlinkClick r:id="rId2"/>
              </a:rPr>
              <a:t>Solution on GitHub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8913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5A94C-7B3F-0E65-8B6D-B6CFBB5AE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1065386"/>
          </a:xfrm>
        </p:spPr>
        <p:txBody>
          <a:bodyPr/>
          <a:lstStyle/>
          <a:p>
            <a:r>
              <a:rPr lang="en-US" dirty="0"/>
              <a:t>3. Light Sensor to CC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A2AE1-7250-374D-BEA8-C64BF01DE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8" y="1714500"/>
            <a:ext cx="5915025" cy="926676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onboard light sensor reads out as an analog value (range of 0 to 65535)</a:t>
            </a:r>
          </a:p>
          <a:p>
            <a:r>
              <a:rPr lang="en-US" dirty="0"/>
              <a:t>Use the same MIDI </a:t>
            </a:r>
            <a:r>
              <a:rPr lang="en-US" dirty="0" err="1"/>
              <a:t>init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midi = </a:t>
            </a:r>
            <a:r>
              <a:rPr lang="en-US" dirty="0" err="1"/>
              <a:t>adafruit_midi.MIDI</a:t>
            </a:r>
            <a:r>
              <a:rPr lang="en-US" dirty="0"/>
              <a:t>(</a:t>
            </a:r>
            <a:r>
              <a:rPr lang="en-US" dirty="0" err="1"/>
              <a:t>midi_out</a:t>
            </a:r>
            <a:r>
              <a:rPr lang="en-US" dirty="0"/>
              <a:t>=</a:t>
            </a:r>
            <a:r>
              <a:rPr lang="en-US" dirty="0" err="1"/>
              <a:t>usb_midi.ports</a:t>
            </a:r>
            <a:r>
              <a:rPr lang="en-US" dirty="0"/>
              <a:t>[1], </a:t>
            </a:r>
            <a:r>
              <a:rPr lang="en-US" dirty="0" err="1"/>
              <a:t>out_channel</a:t>
            </a:r>
            <a:r>
              <a:rPr lang="en-US" dirty="0"/>
              <a:t>=0)</a:t>
            </a:r>
          </a:p>
          <a:p>
            <a:r>
              <a:rPr lang="en-US" dirty="0"/>
              <a:t>Init the light sensor as an analog input:</a:t>
            </a:r>
          </a:p>
          <a:p>
            <a:pPr lvl="1"/>
            <a:r>
              <a:rPr lang="en-US" dirty="0"/>
              <a:t>light = </a:t>
            </a:r>
            <a:r>
              <a:rPr lang="en-US" dirty="0" err="1"/>
              <a:t>AnalogIn</a:t>
            </a:r>
            <a:r>
              <a:rPr lang="en-US" dirty="0"/>
              <a:t>(</a:t>
            </a:r>
            <a:r>
              <a:rPr lang="en-US" dirty="0" err="1"/>
              <a:t>board.LIGHT</a:t>
            </a:r>
            <a:r>
              <a:rPr lang="en-US" dirty="0"/>
              <a:t>)</a:t>
            </a:r>
          </a:p>
          <a:p>
            <a:r>
              <a:rPr lang="en-US" dirty="0"/>
              <a:t>You’ll compare the current light sensor value to the previous light sensor value. Create a variable to hold the previous value:</a:t>
            </a:r>
          </a:p>
          <a:p>
            <a:pPr lvl="1"/>
            <a:r>
              <a:rPr lang="en-US" dirty="0" err="1"/>
              <a:t>previous_modulation</a:t>
            </a:r>
            <a:r>
              <a:rPr lang="en-US" dirty="0"/>
              <a:t> = 0</a:t>
            </a:r>
          </a:p>
          <a:p>
            <a:r>
              <a:rPr lang="en-US" dirty="0"/>
              <a:t>In the loop, use </a:t>
            </a:r>
            <a:r>
              <a:rPr lang="en-US" dirty="0" err="1"/>
              <a:t>map_range</a:t>
            </a:r>
            <a:r>
              <a:rPr lang="en-US" dirty="0"/>
              <a:t> to map the light sensor value range to the CC message value range:</a:t>
            </a:r>
          </a:p>
          <a:p>
            <a:pPr lvl="1"/>
            <a:r>
              <a:rPr lang="en-US" dirty="0" err="1"/>
              <a:t>mod_val</a:t>
            </a:r>
            <a:r>
              <a:rPr lang="en-US" dirty="0"/>
              <a:t> = </a:t>
            </a:r>
            <a:r>
              <a:rPr lang="en-US" dirty="0" err="1"/>
              <a:t>simpleio.map_range</a:t>
            </a:r>
            <a:r>
              <a:rPr lang="en-US" dirty="0"/>
              <a:t>(</a:t>
            </a:r>
            <a:r>
              <a:rPr lang="en-US" dirty="0" err="1"/>
              <a:t>light.value</a:t>
            </a:r>
            <a:r>
              <a:rPr lang="en-US" dirty="0"/>
              <a:t>, 0, 65535, 0, 127)</a:t>
            </a:r>
          </a:p>
          <a:p>
            <a:pPr lvl="1"/>
            <a:r>
              <a:rPr lang="en-US" dirty="0"/>
              <a:t>This returns a value that can be sent as a CC message</a:t>
            </a:r>
          </a:p>
          <a:p>
            <a:r>
              <a:rPr lang="en-US" dirty="0"/>
              <a:t>If the value difference is greater than 2, then send a new CC value:</a:t>
            </a:r>
          </a:p>
          <a:p>
            <a:pPr lvl="1"/>
            <a:r>
              <a:rPr lang="en-US" sz="2100" dirty="0"/>
              <a:t>if abs(</a:t>
            </a:r>
            <a:r>
              <a:rPr lang="en-US" sz="2100" dirty="0" err="1"/>
              <a:t>mod_val</a:t>
            </a:r>
            <a:r>
              <a:rPr lang="en-US" sz="2100" dirty="0"/>
              <a:t> - </a:t>
            </a:r>
            <a:r>
              <a:rPr lang="en-US" sz="2100" dirty="0" err="1"/>
              <a:t>previous_modulation</a:t>
            </a:r>
            <a:r>
              <a:rPr lang="en-US" sz="2100" dirty="0"/>
              <a:t>) &gt; 2:</a:t>
            </a:r>
          </a:p>
          <a:p>
            <a:pPr lvl="1"/>
            <a:r>
              <a:rPr lang="en-US" sz="2100" dirty="0"/>
              <a:t>        #  update mod_val2</a:t>
            </a:r>
          </a:p>
          <a:p>
            <a:pPr lvl="1"/>
            <a:r>
              <a:rPr lang="en-US" sz="2100" dirty="0"/>
              <a:t>        </a:t>
            </a:r>
            <a:r>
              <a:rPr lang="en-US" sz="2100" dirty="0" err="1"/>
              <a:t>previous_modulation</a:t>
            </a:r>
            <a:r>
              <a:rPr lang="en-US" sz="2100" dirty="0"/>
              <a:t> = </a:t>
            </a:r>
            <a:r>
              <a:rPr lang="en-US" sz="2100" dirty="0" err="1"/>
              <a:t>mod_val</a:t>
            </a:r>
            <a:endParaRPr lang="en-US" sz="2100" dirty="0"/>
          </a:p>
          <a:p>
            <a:pPr lvl="1"/>
            <a:r>
              <a:rPr lang="en-US" sz="2100" dirty="0"/>
              <a:t>        #  create integer</a:t>
            </a:r>
          </a:p>
          <a:p>
            <a:pPr lvl="1"/>
            <a:r>
              <a:rPr lang="en-US" sz="2100" dirty="0"/>
              <a:t>        modulation = int(</a:t>
            </a:r>
            <a:r>
              <a:rPr lang="en-US" sz="2100" dirty="0" err="1"/>
              <a:t>mod_val</a:t>
            </a:r>
            <a:r>
              <a:rPr lang="en-US" sz="2100" dirty="0"/>
              <a:t>)</a:t>
            </a:r>
          </a:p>
          <a:p>
            <a:pPr lvl="1"/>
            <a:r>
              <a:rPr lang="en-US" sz="2100" dirty="0"/>
              <a:t>        #  create CC message</a:t>
            </a:r>
          </a:p>
          <a:p>
            <a:pPr lvl="1"/>
            <a:r>
              <a:rPr lang="en-US" sz="2100" dirty="0"/>
              <a:t>        </a:t>
            </a:r>
            <a:r>
              <a:rPr lang="en-US" sz="2100" dirty="0" err="1"/>
              <a:t>modWheel</a:t>
            </a:r>
            <a:r>
              <a:rPr lang="en-US" sz="2100" dirty="0"/>
              <a:t> = </a:t>
            </a:r>
            <a:r>
              <a:rPr lang="en-US" sz="2100" dirty="0" err="1"/>
              <a:t>ControlChange</a:t>
            </a:r>
            <a:r>
              <a:rPr lang="en-US" sz="2100" dirty="0"/>
              <a:t>(1, modulation)</a:t>
            </a:r>
          </a:p>
          <a:p>
            <a:pPr lvl="1"/>
            <a:r>
              <a:rPr lang="en-US" sz="2100" dirty="0"/>
              <a:t>        #  send CC message</a:t>
            </a:r>
          </a:p>
          <a:p>
            <a:pPr lvl="1"/>
            <a:r>
              <a:rPr lang="en-US" sz="2100" dirty="0"/>
              <a:t>        </a:t>
            </a:r>
            <a:r>
              <a:rPr lang="en-US" sz="2100" dirty="0" err="1"/>
              <a:t>midi.send</a:t>
            </a:r>
            <a:r>
              <a:rPr lang="en-US" sz="2100" dirty="0"/>
              <a:t>(</a:t>
            </a:r>
            <a:r>
              <a:rPr lang="en-US" sz="2100" dirty="0" err="1"/>
              <a:t>modWheel</a:t>
            </a:r>
            <a:r>
              <a:rPr lang="en-US" sz="2100" dirty="0"/>
              <a:t>)</a:t>
            </a:r>
          </a:p>
          <a:p>
            <a:r>
              <a:rPr lang="en-US" sz="2400" dirty="0"/>
              <a:t>All CC messages need to be sent as an integer, </a:t>
            </a:r>
            <a:r>
              <a:rPr lang="en-US" sz="2400" dirty="0" err="1"/>
              <a:t>map_range</a:t>
            </a:r>
            <a:r>
              <a:rPr lang="en-US" sz="2400" dirty="0"/>
              <a:t>() returns a float</a:t>
            </a:r>
          </a:p>
          <a:p>
            <a:endParaRPr lang="en-US" sz="2400" dirty="0"/>
          </a:p>
          <a:p>
            <a:r>
              <a:rPr lang="en-US" sz="2400" dirty="0">
                <a:hlinkClick r:id="rId2"/>
              </a:rPr>
              <a:t>Solution on GitHub</a:t>
            </a:r>
            <a:endParaRPr lang="en-US" sz="2400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2829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DCAF6-76D3-8C4F-797F-A60C6135B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967415"/>
          </a:xfrm>
        </p:spPr>
        <p:txBody>
          <a:bodyPr/>
          <a:lstStyle/>
          <a:p>
            <a:r>
              <a:rPr lang="en-US" dirty="0"/>
              <a:t>4. Accelerometer to </a:t>
            </a:r>
            <a:r>
              <a:rPr lang="en-US" dirty="0" err="1"/>
              <a:t>PitchBend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F7BF2-8809-919F-9EE8-8534E96174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8" y="1616529"/>
            <a:ext cx="5915025" cy="936473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Same USB MIDI </a:t>
            </a:r>
            <a:r>
              <a:rPr lang="en-US" dirty="0" err="1"/>
              <a:t>init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midi = </a:t>
            </a:r>
            <a:r>
              <a:rPr lang="en-US" dirty="0" err="1"/>
              <a:t>adafruit_midi.MIDI</a:t>
            </a:r>
            <a:r>
              <a:rPr lang="en-US" dirty="0"/>
              <a:t>(</a:t>
            </a:r>
            <a:r>
              <a:rPr lang="en-US" dirty="0" err="1"/>
              <a:t>midi_out</a:t>
            </a:r>
            <a:r>
              <a:rPr lang="en-US" dirty="0"/>
              <a:t>=</a:t>
            </a:r>
            <a:r>
              <a:rPr lang="en-US" dirty="0" err="1"/>
              <a:t>usb_midi.ports</a:t>
            </a:r>
            <a:r>
              <a:rPr lang="en-US" dirty="0"/>
              <a:t>[1], </a:t>
            </a:r>
            <a:r>
              <a:rPr lang="en-US" dirty="0" err="1"/>
              <a:t>out_channel</a:t>
            </a:r>
            <a:r>
              <a:rPr lang="en-US" dirty="0"/>
              <a:t>=0)</a:t>
            </a:r>
          </a:p>
          <a:p>
            <a:r>
              <a:rPr lang="en-US" dirty="0"/>
              <a:t>LIS3DH I2C </a:t>
            </a:r>
            <a:r>
              <a:rPr lang="en-US" dirty="0" err="1"/>
              <a:t>init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i2c = busio.I2C(</a:t>
            </a:r>
            <a:r>
              <a:rPr lang="en-US" dirty="0" err="1"/>
              <a:t>board.ACCELEROMETER_SCL</a:t>
            </a:r>
            <a:r>
              <a:rPr lang="en-US" dirty="0"/>
              <a:t>, </a:t>
            </a:r>
            <a:r>
              <a:rPr lang="en-US" dirty="0" err="1"/>
              <a:t>board.ACCELEROMETER_SDA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lis3dh = adafruit_lis3dh.LIS3DH_I2C(i2c, address=0x19)</a:t>
            </a:r>
          </a:p>
          <a:p>
            <a:pPr lvl="1"/>
            <a:r>
              <a:rPr lang="en-US" dirty="0"/>
              <a:t>lis3dh.range = adafruit_lis3dh.RANGE_2_G</a:t>
            </a:r>
          </a:p>
          <a:p>
            <a:r>
              <a:rPr lang="en-US" dirty="0"/>
              <a:t>Similar to sending CC, you’ll track the previous value to compare against:</a:t>
            </a:r>
          </a:p>
          <a:p>
            <a:pPr lvl="1"/>
            <a:r>
              <a:rPr lang="en-US" dirty="0" err="1"/>
              <a:t>no_bend</a:t>
            </a:r>
            <a:r>
              <a:rPr lang="en-US" dirty="0"/>
              <a:t> = 8192 # center pitch bend value for no bend</a:t>
            </a:r>
          </a:p>
          <a:p>
            <a:pPr lvl="1"/>
            <a:r>
              <a:rPr lang="en-US" dirty="0" err="1"/>
              <a:t>last_bend</a:t>
            </a:r>
            <a:r>
              <a:rPr lang="en-US" dirty="0"/>
              <a:t> = 8192</a:t>
            </a:r>
          </a:p>
          <a:p>
            <a:pPr lvl="1"/>
            <a:r>
              <a:rPr lang="en-US" dirty="0"/>
              <a:t>The center value/no bend for </a:t>
            </a:r>
            <a:r>
              <a:rPr lang="en-US" dirty="0" err="1"/>
              <a:t>PitchBend</a:t>
            </a:r>
            <a:r>
              <a:rPr lang="en-US" dirty="0"/>
              <a:t> is 8192</a:t>
            </a:r>
          </a:p>
          <a:p>
            <a:r>
              <a:rPr lang="en-US" dirty="0"/>
              <a:t>You’ll make a “debounce” value to quiet the center value from the accelerometer:</a:t>
            </a:r>
          </a:p>
          <a:p>
            <a:pPr lvl="1"/>
            <a:r>
              <a:rPr lang="en-US" dirty="0"/>
              <a:t>debounce = 0.1</a:t>
            </a:r>
          </a:p>
          <a:p>
            <a:r>
              <a:rPr lang="en-US" dirty="0"/>
              <a:t>In the loop, you’ll read the values from the accelerometer:</a:t>
            </a:r>
          </a:p>
          <a:p>
            <a:pPr lvl="1"/>
            <a:r>
              <a:rPr lang="en-US" dirty="0"/>
              <a:t>x, y, z = (value / adafruit_lis3dh.STANDARD_GRAVITY for value in lis3dh.acceleration)</a:t>
            </a:r>
          </a:p>
          <a:p>
            <a:pPr lvl="1"/>
            <a:r>
              <a:rPr lang="en-US" dirty="0"/>
              <a:t>The y axis will be used for </a:t>
            </a:r>
            <a:r>
              <a:rPr lang="en-US" dirty="0" err="1"/>
              <a:t>PitchBend</a:t>
            </a:r>
            <a:endParaRPr lang="en-US" dirty="0"/>
          </a:p>
          <a:p>
            <a:r>
              <a:rPr lang="en-US" dirty="0"/>
              <a:t>In the CPB is flat on a surface, no </a:t>
            </a:r>
            <a:r>
              <a:rPr lang="en-US" dirty="0" err="1"/>
              <a:t>PitchBend</a:t>
            </a:r>
            <a:r>
              <a:rPr lang="en-US" dirty="0"/>
              <a:t> is sent:</a:t>
            </a:r>
          </a:p>
          <a:p>
            <a:pPr lvl="1"/>
            <a:r>
              <a:rPr lang="en-US" dirty="0"/>
              <a:t> if abs(y) &lt; debounce: # if basically level on y axis, no pitch bend</a:t>
            </a:r>
          </a:p>
          <a:p>
            <a:pPr lvl="1"/>
            <a:r>
              <a:rPr lang="en-US" dirty="0"/>
              <a:t>        bend = </a:t>
            </a:r>
            <a:r>
              <a:rPr lang="en-US" dirty="0" err="1"/>
              <a:t>no_bend</a:t>
            </a:r>
            <a:endParaRPr lang="en-US" dirty="0"/>
          </a:p>
          <a:p>
            <a:pPr lvl="1"/>
            <a:r>
              <a:rPr lang="en-US" dirty="0"/>
              <a:t>else:</a:t>
            </a:r>
          </a:p>
          <a:p>
            <a:pPr lvl="1"/>
            <a:r>
              <a:rPr lang="en-US" dirty="0"/>
              <a:t>        bend = </a:t>
            </a:r>
            <a:r>
              <a:rPr lang="en-US" dirty="0" err="1"/>
              <a:t>no_bend</a:t>
            </a:r>
            <a:r>
              <a:rPr lang="en-US" dirty="0"/>
              <a:t> + int(y * (8191 if y &gt; 0 else 8192)) </a:t>
            </a:r>
          </a:p>
        </p:txBody>
      </p:sp>
    </p:spTree>
    <p:extLst>
      <p:ext uri="{BB962C8B-B14F-4D97-AF65-F5344CB8AC3E}">
        <p14:creationId xmlns:p14="http://schemas.microsoft.com/office/powerpoint/2010/main" val="42057656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B0B0F-1B98-BAD7-D16D-5CD2C55C5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967415"/>
          </a:xfrm>
        </p:spPr>
        <p:txBody>
          <a:bodyPr>
            <a:normAutofit fontScale="90000"/>
          </a:bodyPr>
          <a:lstStyle/>
          <a:p>
            <a:r>
              <a:rPr lang="en-US" dirty="0"/>
              <a:t>4. Accelerometer to </a:t>
            </a:r>
            <a:r>
              <a:rPr lang="en-US" dirty="0" err="1"/>
              <a:t>PitchBend</a:t>
            </a:r>
            <a:r>
              <a:rPr lang="en-US" dirty="0"/>
              <a:t> cont’d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E7BBC-17D0-D92F-35ED-032E9F54A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8" y="1894114"/>
            <a:ext cx="5915025" cy="9087154"/>
          </a:xfrm>
        </p:spPr>
        <p:txBody>
          <a:bodyPr/>
          <a:lstStyle/>
          <a:p>
            <a:r>
              <a:rPr lang="en-US" dirty="0"/>
              <a:t>Clamp the bend value to the </a:t>
            </a:r>
            <a:r>
              <a:rPr lang="en-US" dirty="0" err="1"/>
              <a:t>PitchBend</a:t>
            </a:r>
            <a:r>
              <a:rPr lang="en-US" dirty="0"/>
              <a:t> range:</a:t>
            </a:r>
          </a:p>
          <a:p>
            <a:pPr lvl="1"/>
            <a:r>
              <a:rPr lang="en-US" dirty="0"/>
              <a:t>bend = min(16383, max(0, bend)) # clamp values to pitchbend range</a:t>
            </a:r>
          </a:p>
          <a:p>
            <a:r>
              <a:rPr lang="en-US" dirty="0"/>
              <a:t>If the value has changed enough or </a:t>
            </a:r>
            <a:r>
              <a:rPr lang="en-US" dirty="0" err="1"/>
              <a:t>PitchBend</a:t>
            </a:r>
            <a:r>
              <a:rPr lang="en-US" dirty="0"/>
              <a:t> is off, send the value:</a:t>
            </a:r>
          </a:p>
          <a:p>
            <a:pPr lvl="1"/>
            <a:r>
              <a:rPr lang="en-US" dirty="0"/>
              <a:t> if abs(bend - </a:t>
            </a:r>
            <a:r>
              <a:rPr lang="en-US" dirty="0" err="1"/>
              <a:t>last_bend</a:t>
            </a:r>
            <a:r>
              <a:rPr lang="en-US" dirty="0"/>
              <a:t>) &gt; 75 or (bend == </a:t>
            </a:r>
            <a:r>
              <a:rPr lang="en-US" dirty="0" err="1"/>
              <a:t>no_bend</a:t>
            </a:r>
            <a:r>
              <a:rPr lang="en-US" dirty="0"/>
              <a:t> and </a:t>
            </a:r>
            <a:r>
              <a:rPr lang="en-US" dirty="0" err="1"/>
              <a:t>last_bend</a:t>
            </a:r>
            <a:r>
              <a:rPr lang="en-US" dirty="0"/>
              <a:t> != </a:t>
            </a:r>
            <a:r>
              <a:rPr lang="en-US" dirty="0" err="1"/>
              <a:t>no_bend</a:t>
            </a:r>
            <a:r>
              <a:rPr lang="en-US" dirty="0"/>
              <a:t>):</a:t>
            </a:r>
          </a:p>
          <a:p>
            <a:pPr lvl="1"/>
            <a:r>
              <a:rPr lang="en-US" dirty="0"/>
              <a:t>        </a:t>
            </a:r>
            <a:r>
              <a:rPr lang="en-US" dirty="0" err="1"/>
              <a:t>last_bend</a:t>
            </a:r>
            <a:r>
              <a:rPr lang="en-US" dirty="0"/>
              <a:t> = bend</a:t>
            </a:r>
          </a:p>
          <a:p>
            <a:pPr lvl="1"/>
            <a:r>
              <a:rPr lang="en-US" dirty="0"/>
              <a:t>        </a:t>
            </a:r>
            <a:r>
              <a:rPr lang="en-US" dirty="0" err="1"/>
              <a:t>midi.send</a:t>
            </a:r>
            <a:r>
              <a:rPr lang="en-US" dirty="0"/>
              <a:t>(</a:t>
            </a:r>
            <a:r>
              <a:rPr lang="en-US" dirty="0" err="1"/>
              <a:t>PitchBend</a:t>
            </a:r>
            <a:r>
              <a:rPr lang="en-US" dirty="0"/>
              <a:t>(bend))</a:t>
            </a:r>
          </a:p>
          <a:p>
            <a:endParaRPr lang="en-US" dirty="0"/>
          </a:p>
          <a:p>
            <a:r>
              <a:rPr lang="en-US" dirty="0">
                <a:hlinkClick r:id="rId2"/>
              </a:rPr>
              <a:t>Solution on GitHub</a:t>
            </a:r>
            <a:endParaRPr lang="en-US" dirty="0"/>
          </a:p>
          <a:p>
            <a:endParaRPr lang="en-US" dirty="0"/>
          </a:p>
          <a:p>
            <a:r>
              <a:rPr lang="en-US" dirty="0"/>
              <a:t>You can experiment with using a different axis or figuring out tilt to tie to </a:t>
            </a:r>
            <a:r>
              <a:rPr lang="en-US" dirty="0" err="1"/>
              <a:t>PitchBend</a:t>
            </a:r>
            <a:r>
              <a:rPr lang="en-US" dirty="0"/>
              <a:t> or any other CC value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939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F99DC-7DAB-7F1D-6408-92F392E76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902100"/>
          </a:xfrm>
        </p:spPr>
        <p:txBody>
          <a:bodyPr/>
          <a:lstStyle/>
          <a:p>
            <a:r>
              <a:rPr lang="en-US"/>
              <a:t>5. BLE </a:t>
            </a:r>
            <a:r>
              <a:rPr lang="en-US" dirty="0"/>
              <a:t>MIDI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19CB8-257F-09BA-8BCA-B7C045837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8" y="1665514"/>
            <a:ext cx="5915025" cy="9315754"/>
          </a:xfrm>
        </p:spPr>
        <p:txBody>
          <a:bodyPr/>
          <a:lstStyle/>
          <a:p>
            <a:r>
              <a:rPr lang="en-US" dirty="0"/>
              <a:t>We won’t try it in class because it’s a little more finicky</a:t>
            </a:r>
          </a:p>
          <a:p>
            <a:pPr lvl="1"/>
            <a:r>
              <a:rPr lang="en-US" dirty="0"/>
              <a:t>Might have connection issues with the number of devices trying to start up</a:t>
            </a:r>
          </a:p>
          <a:p>
            <a:pPr lvl="1"/>
            <a:r>
              <a:rPr lang="en-US" dirty="0"/>
              <a:t>Might be fun for final projects though</a:t>
            </a:r>
          </a:p>
          <a:p>
            <a:r>
              <a:rPr lang="en-US" dirty="0"/>
              <a:t>The only difference is the MIDI </a:t>
            </a:r>
            <a:r>
              <a:rPr lang="en-US" dirty="0" err="1"/>
              <a:t>init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#  BLE MIDI </a:t>
            </a:r>
            <a:r>
              <a:rPr lang="en-US" dirty="0" err="1"/>
              <a:t>setupmidi_service</a:t>
            </a:r>
            <a:r>
              <a:rPr lang="en-US" dirty="0"/>
              <a:t> = </a:t>
            </a:r>
            <a:r>
              <a:rPr lang="en-US" dirty="0" err="1"/>
              <a:t>adafruit_ble_midi.MIDIService</a:t>
            </a:r>
            <a:r>
              <a:rPr lang="en-US" dirty="0"/>
              <a:t>()</a:t>
            </a:r>
          </a:p>
          <a:p>
            <a:pPr lvl="1"/>
            <a:r>
              <a:rPr lang="en-US" dirty="0"/>
              <a:t>advertisement = </a:t>
            </a:r>
            <a:r>
              <a:rPr lang="en-US" dirty="0" err="1"/>
              <a:t>ProvideServicesAdvertisement</a:t>
            </a:r>
            <a:r>
              <a:rPr lang="en-US" dirty="0"/>
              <a:t>(</a:t>
            </a:r>
            <a:r>
              <a:rPr lang="en-US" dirty="0" err="1"/>
              <a:t>midi_service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ble</a:t>
            </a:r>
            <a:r>
              <a:rPr lang="en-US" dirty="0"/>
              <a:t> = </a:t>
            </a:r>
            <a:r>
              <a:rPr lang="en-US" dirty="0" err="1"/>
              <a:t>adafruit_ble.BLERadio</a:t>
            </a:r>
            <a:r>
              <a:rPr lang="en-US" dirty="0"/>
              <a:t>()</a:t>
            </a:r>
          </a:p>
          <a:p>
            <a:pPr lvl="1"/>
            <a:r>
              <a:rPr lang="en-US" dirty="0"/>
              <a:t>if </a:t>
            </a:r>
            <a:r>
              <a:rPr lang="en-US" dirty="0" err="1"/>
              <a:t>ble.connected</a:t>
            </a:r>
            <a:r>
              <a:rPr lang="en-US" dirty="0"/>
              <a:t>:    </a:t>
            </a:r>
          </a:p>
          <a:p>
            <a:pPr lvl="1"/>
            <a:r>
              <a:rPr lang="en-US" dirty="0"/>
              <a:t>    for c in </a:t>
            </a:r>
            <a:r>
              <a:rPr lang="en-US" dirty="0" err="1"/>
              <a:t>ble.connections</a:t>
            </a:r>
            <a:r>
              <a:rPr lang="en-US" dirty="0"/>
              <a:t>:        </a:t>
            </a:r>
          </a:p>
          <a:p>
            <a:pPr lvl="1"/>
            <a:r>
              <a:rPr lang="en-US" dirty="0"/>
              <a:t>        </a:t>
            </a:r>
            <a:r>
              <a:rPr lang="en-US" dirty="0" err="1"/>
              <a:t>c.disconnect</a:t>
            </a:r>
            <a:r>
              <a:rPr lang="en-US" dirty="0"/>
              <a:t>()#  midi setup</a:t>
            </a:r>
          </a:p>
          <a:p>
            <a:pPr lvl="1"/>
            <a:r>
              <a:rPr lang="en-US" dirty="0"/>
              <a:t>midi = </a:t>
            </a:r>
            <a:r>
              <a:rPr lang="en-US" dirty="0" err="1"/>
              <a:t>adafruit_midi.MIDI</a:t>
            </a:r>
            <a:r>
              <a:rPr lang="en-US" dirty="0"/>
              <a:t>(</a:t>
            </a:r>
            <a:r>
              <a:rPr lang="en-US" dirty="0" err="1"/>
              <a:t>midi_out</a:t>
            </a:r>
            <a:r>
              <a:rPr lang="en-US" dirty="0"/>
              <a:t>=</a:t>
            </a:r>
            <a:r>
              <a:rPr lang="en-US" dirty="0" err="1"/>
              <a:t>midi_service</a:t>
            </a:r>
            <a:r>
              <a:rPr lang="en-US" dirty="0"/>
              <a:t>, </a:t>
            </a:r>
            <a:r>
              <a:rPr lang="en-US" dirty="0" err="1"/>
              <a:t>out_channel</a:t>
            </a:r>
            <a:r>
              <a:rPr lang="en-US" dirty="0"/>
              <a:t>=0)</a:t>
            </a:r>
          </a:p>
          <a:p>
            <a:pPr lvl="1"/>
            <a:r>
              <a:rPr lang="en-US" dirty="0"/>
              <a:t>print("advertising")</a:t>
            </a:r>
          </a:p>
          <a:p>
            <a:pPr lvl="1"/>
            <a:r>
              <a:rPr lang="en-US" dirty="0" err="1"/>
              <a:t>ble.start_advertising</a:t>
            </a:r>
            <a:r>
              <a:rPr lang="en-US" dirty="0"/>
              <a:t>(advertisement)</a:t>
            </a:r>
          </a:p>
          <a:p>
            <a:r>
              <a:rPr lang="en-US" dirty="0"/>
              <a:t>In the loop:</a:t>
            </a:r>
          </a:p>
          <a:p>
            <a:pPr lvl="1"/>
            <a:r>
              <a:rPr lang="en-US" dirty="0"/>
              <a:t>while True:    #  BLE connection</a:t>
            </a:r>
          </a:p>
          <a:p>
            <a:pPr lvl="1"/>
            <a:r>
              <a:rPr lang="en-US" dirty="0"/>
              <a:t>    print("Waiting for connection")</a:t>
            </a:r>
          </a:p>
          <a:p>
            <a:pPr lvl="1"/>
            <a:r>
              <a:rPr lang="en-US" dirty="0"/>
              <a:t>    while not </a:t>
            </a:r>
            <a:r>
              <a:rPr lang="en-US" dirty="0" err="1"/>
              <a:t>ble.connected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        pass</a:t>
            </a:r>
          </a:p>
          <a:p>
            <a:pPr lvl="1"/>
            <a:r>
              <a:rPr lang="en-US" dirty="0"/>
              <a:t>    print("Connected")</a:t>
            </a:r>
          </a:p>
          <a:p>
            <a:pPr lvl="1"/>
            <a:r>
              <a:rPr lang="en-US" dirty="0"/>
              <a:t>    </a:t>
            </a:r>
            <a:r>
              <a:rPr lang="en-US" dirty="0" err="1"/>
              <a:t>time.sleep</a:t>
            </a:r>
            <a:r>
              <a:rPr lang="en-US" dirty="0"/>
              <a:t>(1.0)</a:t>
            </a:r>
          </a:p>
          <a:p>
            <a:pPr lvl="1"/>
            <a:r>
              <a:rPr lang="en-US" dirty="0"/>
              <a:t>    while </a:t>
            </a:r>
            <a:r>
              <a:rPr lang="en-US" dirty="0" err="1"/>
              <a:t>ble.connected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        </a:t>
            </a:r>
            <a:r>
              <a:rPr lang="en-US" dirty="0" err="1"/>
              <a:t>midi.send</a:t>
            </a:r>
            <a:r>
              <a:rPr lang="en-US" dirty="0"/>
              <a:t>(</a:t>
            </a:r>
            <a:r>
              <a:rPr lang="en-US" dirty="0" err="1"/>
              <a:t>NoteOn</a:t>
            </a:r>
            <a:r>
              <a:rPr lang="en-US" dirty="0"/>
              <a:t>(64], 120))</a:t>
            </a:r>
          </a:p>
          <a:p>
            <a:endParaRPr lang="en-US" dirty="0"/>
          </a:p>
          <a:p>
            <a:r>
              <a:rPr lang="en-US" dirty="0">
                <a:hlinkClick r:id="rId2"/>
              </a:rPr>
              <a:t>Example on GitHub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9446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1417</TotalTime>
  <Words>1951</Words>
  <Application>Microsoft Office PowerPoint</Application>
  <PresentationFormat>Widescreen</PresentationFormat>
  <Paragraphs>187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MIDI with CircuitPython</vt:lpstr>
      <vt:lpstr>1. NeoPixel MIDI Listener</vt:lpstr>
      <vt:lpstr>2. Touch MIDI Keyboard</vt:lpstr>
      <vt:lpstr>2B. Change Octaves</vt:lpstr>
      <vt:lpstr>2B. Change Octaves, cont’d</vt:lpstr>
      <vt:lpstr>3. Light Sensor to CC Message</vt:lpstr>
      <vt:lpstr>4. Accelerometer to PitchBend</vt:lpstr>
      <vt:lpstr>4. Accelerometer to PitchBend cont’d</vt:lpstr>
      <vt:lpstr>5. BLE MIDI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Liz Clark</dc:creator>
  <cp:lastModifiedBy>Liz Clark</cp:lastModifiedBy>
  <cp:revision>3</cp:revision>
  <dcterms:created xsi:type="dcterms:W3CDTF">2026-09-29T13:35:16Z</dcterms:created>
  <dcterms:modified xsi:type="dcterms:W3CDTF">2026-09-30T13:12:32Z</dcterms:modified>
</cp:coreProperties>
</file>